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59" r:id="rId3"/>
    <p:sldId id="266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619A"/>
    <a:srgbClr val="93DAF7"/>
    <a:srgbClr val="E7F0F9"/>
    <a:srgbClr val="22979A"/>
    <a:srgbClr val="00194C"/>
    <a:srgbClr val="8A6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6" autoAdjust="0"/>
    <p:restoredTop sz="95033" autoAdjust="0"/>
  </p:normalViewPr>
  <p:slideViewPr>
    <p:cSldViewPr snapToGrid="0">
      <p:cViewPr>
        <p:scale>
          <a:sx n="72" d="100"/>
          <a:sy n="72" d="100"/>
        </p:scale>
        <p:origin x="111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6BCD1-4FD2-42C8-8825-83F65CF86F2B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3BB02-E798-4640-8DCD-CE97D4728D8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58015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3BB02-E798-4640-8DCD-CE97D4728D80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9460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74CE6-5B2D-8318-5559-A82AF344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B37B9-4B88-FCA0-B064-A493AC1C5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59C20E-46E9-21AC-AFF8-BEFEEB9AE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51883-6212-7295-6022-7ECDAB627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3BB02-E798-4640-8DCD-CE97D4728D80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02434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2804-82FC-B4DD-BC32-6F1C330D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14D8B-FC3A-4913-4CF8-682127C40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AABDC-078D-3CB5-42F1-0C8D248EA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1DF78-0106-A4BE-867D-D31DE4C84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3BB02-E798-4640-8DCD-CE97D4728D80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60560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DF17F-C59C-2038-0967-BAE426D0A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C564E-2F7C-15C3-9EA5-830755E51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DB3BE-2452-5A1A-7242-02A4DA66C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2D0A0-B648-7F5E-E4BB-4E0A3DBB7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3BB02-E798-4640-8DCD-CE97D4728D80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43205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831B8-41A8-A3B4-4393-9124D80A4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4577D-B7AB-3FBB-5B84-B032B49D6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FEBA7-22B8-DDA8-5B9C-F18780CB1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5DFA2-6B2C-88B1-D29E-6C0FEF562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3BB02-E798-4640-8DCD-CE97D4728D80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0088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1208-12C0-E645-E491-7141E1454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F09C0-CE8A-6123-3536-6B0837B35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63106-46FB-20A0-4836-59C7C1ECF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B9D19-9080-FCE9-693D-BFF44AADE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3BB02-E798-4640-8DCD-CE97D4728D80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18622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EAA0B-4A4E-1B12-C0E9-244EE435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061FE-6B8D-F87D-FCE5-09EC8505D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9EB0F-E300-5BE5-F704-430798C30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FDA56-3EAC-4C2C-4C8B-F6FCD7906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3BB02-E798-4640-8DCD-CE97D4728D80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8501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88443-DA3B-6101-A273-558F38AF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54E75-EA46-952C-2AA7-9CCDBC85D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F3536-931B-0C1B-A11D-08C445E67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A06A2-039D-1C4A-1C44-387E0E1E7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3BB02-E798-4640-8DCD-CE97D4728D80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9106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F98FA-25FB-84A2-930C-C1131AA0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F37F0-67B3-B94C-DD70-BC0CC5315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934D2-C1A0-DCBA-7031-605B486F5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1BE5B-21CC-CB6A-C5DE-DE99EC057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A3BB02-E798-4640-8DCD-CE97D4728D80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097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E9F4-CB28-4131-DA57-18634268B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0339E-9E04-EAB1-6297-2EC0BE750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F2AAC-F9E3-EA17-D4C0-771CD6061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130BE-E2B4-71AD-A1D5-86D8A2962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D0BD6-2EAA-5C62-022A-95B1DDF02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32027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2529-A297-148F-3F9C-913137B0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AEDD5-B3D0-A96A-7897-77E815D6E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45893-95FE-77A8-0BC7-D74AB1D8F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DE541-27ED-E3F1-ED65-D77814A3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56001-68A6-7641-329A-443B8E498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8740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B9F53-7C11-EEB2-858B-A13B81BED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1C6BC-CB6E-4BB2-CA0A-D5993D5FA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E78F0-9C95-BF76-0D8D-DC1F57CAC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8D16A-8C4B-3F81-C35C-426A5437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6A468-91C7-728D-AFE2-04660CFD9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5940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9E15-DB99-FDB8-807C-5F87A8C3F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B413B-5FCF-ED5F-1701-43D0CB9D8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813F4-AA43-391B-9A0A-E9DB9806D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C7721-B265-D063-4BB8-E681BF68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4008E-542F-B8E8-A8DD-FACC0B74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8430-DBE5-90B4-63AE-59E89AAB9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97825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23D4-D9F2-23EC-83D0-1BF1051BE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F6FE3-68CB-9462-8A43-F510D1B05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F4B8F-2E06-5C67-A26F-D7667E40E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B092F-C85A-9190-49A0-2AF98584D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DB6571-06F6-B67B-EFBB-497F2B665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F472D-0258-FEBD-B466-B84ADBC7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D9041-C020-1DFF-BC36-FE3E21F3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EDDFD-CFEE-10A7-74D9-A6F67F92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016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C82F9-1D05-CDAE-6E68-205D5DD3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07BFD5-44BF-05A3-94FA-28089AD3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E5E67-EBA0-A974-D344-0459CFD9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2D31C-3B93-4046-3C9D-094F73A8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7958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E1E2D0-9411-71AD-349A-24E9C4C4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B15CC-8343-1E84-738B-75106EF9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0B91C-243D-FA8B-3354-078B3D54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2995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B121C-10DF-B07A-76EC-4FDC62384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83C6F-4F55-17E0-51D9-0ED77BC0B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D57DD-896B-B278-B935-5772E8455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1461F-1E6D-C9EA-EBC7-58E042B2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C4FA3-8FCD-9D6D-7F65-3CB492C7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16F3C-33BE-1268-2977-9D168379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003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DE61-CDB3-FD71-8E9A-B1E0518D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1F8506-1900-8D18-767D-5F0058600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30617-7FED-DF7A-8D5C-57E06C095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652E2-6054-360F-38E6-49CF0173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1F961-B0B3-5909-407C-25D8667C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848F1-D8A1-5EDB-A10B-F4D98074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62468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D3F3C-5313-3193-8327-0C1619AB5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D86E8-FCF8-77D7-BDDD-D893EF179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1EE42-367C-FCA5-3E2D-2AB20A7A9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8B62F-639F-CFF9-0143-9C304DC1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A150F-7889-FC51-5558-62499A12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9719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4E996A-CF52-CA13-AA12-38E45D795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9C8ACA-53F2-3604-1CC1-1AD5BA0F0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4FE4F-E0D7-B7B6-77A4-1DA346BB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C5E3F-AEE3-3DE0-688E-36190019D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3E41B-CF78-41D5-0223-3D4784D5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32626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49F4DEA-C1CA-8CD4-C950-CDD5A04BE8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44424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5" imgH="424" progId="TCLayout.ActiveDocument.1">
                  <p:embed/>
                </p:oleObj>
              </mc:Choice>
              <mc:Fallback>
                <p:oleObj name="think-cell Slide" r:id="rId14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540FD5-A115-2D90-16FE-938AC5A69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C7E23-3A5E-69D4-7587-9A7CBED76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D98B3-915C-1AC2-E7EA-D1265F0F3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F451F-F832-44B4-95D5-E35B2EB949AA}" type="datetimeFigureOut">
              <a:rPr lang="el-GR" smtClean="0"/>
              <a:t>7/3/2026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3A4B7-E431-7E24-94A0-871E5780D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09AC0-E9C6-E359-95A1-9CA926A8B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9A45C1-4A82-4169-B973-5D5CA22BA87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86268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1.emf"/><Relationship Id="rId10" Type="http://schemas.openxmlformats.org/officeDocument/2006/relationships/image" Target="../media/image7.svg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.emf"/><Relationship Id="rId10" Type="http://schemas.openxmlformats.org/officeDocument/2006/relationships/image" Target="../media/image16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2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2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2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26.png"/><Relationship Id="rId5" Type="http://schemas.openxmlformats.org/officeDocument/2006/relationships/image" Target="../media/image1.emf"/><Relationship Id="rId10" Type="http://schemas.openxmlformats.org/officeDocument/2006/relationships/image" Target="../media/image30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3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341DE297-BEA3-C5D0-CF5D-5D4FEA0AFE3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9974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0F82416C-1E46-CF1A-1C29-06C929EAC167}"/>
              </a:ext>
            </a:extLst>
          </p:cNvPr>
          <p:cNvSpPr/>
          <p:nvPr/>
        </p:nvSpPr>
        <p:spPr>
          <a:xfrm>
            <a:off x="5841053" y="6494205"/>
            <a:ext cx="3450105" cy="361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DC97E2-FEE4-C528-BA1F-6CF511B5543A}"/>
              </a:ext>
            </a:extLst>
          </p:cNvPr>
          <p:cNvSpPr/>
          <p:nvPr/>
        </p:nvSpPr>
        <p:spPr>
          <a:xfrm>
            <a:off x="9291158" y="6504036"/>
            <a:ext cx="2900842" cy="3617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8779D9-AA40-747B-F199-2575FB6FB2AF}"/>
              </a:ext>
            </a:extLst>
          </p:cNvPr>
          <p:cNvSpPr txBox="1"/>
          <p:nvPr/>
        </p:nvSpPr>
        <p:spPr>
          <a:xfrm>
            <a:off x="157319" y="2202424"/>
            <a:ext cx="593868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</a:rPr>
              <a:t>Customer</a:t>
            </a:r>
          </a:p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</a:rPr>
              <a:t>Segmentation Using</a:t>
            </a:r>
          </a:p>
          <a:p>
            <a:pPr>
              <a:buNone/>
            </a:pP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Unsupervised Machine Learning</a:t>
            </a:r>
            <a:endParaRPr lang="en-US" sz="28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53C4C4-0304-337C-FA72-6745538C6B2B}"/>
              </a:ext>
            </a:extLst>
          </p:cNvPr>
          <p:cNvCxnSpPr>
            <a:cxnSpLocks/>
          </p:cNvCxnSpPr>
          <p:nvPr/>
        </p:nvCxnSpPr>
        <p:spPr>
          <a:xfrm>
            <a:off x="717755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186FC7-8319-1EA9-CD2A-263756B2DC37}"/>
              </a:ext>
            </a:extLst>
          </p:cNvPr>
          <p:cNvCxnSpPr>
            <a:cxnSpLocks/>
          </p:cNvCxnSpPr>
          <p:nvPr/>
        </p:nvCxnSpPr>
        <p:spPr>
          <a:xfrm>
            <a:off x="850491" y="-1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9E56E6-44AD-0102-0769-C191E89B42F3}"/>
              </a:ext>
            </a:extLst>
          </p:cNvPr>
          <p:cNvCxnSpPr>
            <a:cxnSpLocks/>
          </p:cNvCxnSpPr>
          <p:nvPr/>
        </p:nvCxnSpPr>
        <p:spPr>
          <a:xfrm>
            <a:off x="997974" y="-2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3D6E727-64FC-4E04-5790-16E3E1B618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9" t="267" r="11037" b="566"/>
          <a:stretch>
            <a:fillRect/>
          </a:stretch>
        </p:blipFill>
        <p:spPr>
          <a:xfrm>
            <a:off x="5842395" y="1435508"/>
            <a:ext cx="5920697" cy="33421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E2AC5B-E8C3-11D6-2603-7BD2C9B15551}"/>
              </a:ext>
            </a:extLst>
          </p:cNvPr>
          <p:cNvSpPr/>
          <p:nvPr/>
        </p:nvSpPr>
        <p:spPr>
          <a:xfrm>
            <a:off x="5813923" y="0"/>
            <a:ext cx="3450105" cy="361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B84108-60B9-7E1D-9622-4E7357DC66F3}"/>
              </a:ext>
            </a:extLst>
          </p:cNvPr>
          <p:cNvSpPr/>
          <p:nvPr/>
        </p:nvSpPr>
        <p:spPr>
          <a:xfrm>
            <a:off x="9264028" y="0"/>
            <a:ext cx="2927972" cy="3617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3E964B-2399-22D6-F6D7-CC391B1086A7}"/>
              </a:ext>
            </a:extLst>
          </p:cNvPr>
          <p:cNvCxnSpPr>
            <a:cxnSpLocks/>
          </p:cNvCxnSpPr>
          <p:nvPr/>
        </p:nvCxnSpPr>
        <p:spPr>
          <a:xfrm>
            <a:off x="11970772" y="361760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E312FF-05C3-762E-15B4-32AEFF0F84AA}"/>
              </a:ext>
            </a:extLst>
          </p:cNvPr>
          <p:cNvCxnSpPr>
            <a:cxnSpLocks/>
          </p:cNvCxnSpPr>
          <p:nvPr/>
        </p:nvCxnSpPr>
        <p:spPr>
          <a:xfrm>
            <a:off x="12103508" y="361759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050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686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4A76B-CB50-6DC3-11AD-6F937704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B8B39B8E-3861-CE7D-09D0-31D6EF6C82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1992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1DE297-BEA3-C5D0-CF5D-5D4FEA0AFE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8" name="Picture 77">
            <a:extLst>
              <a:ext uri="{FF2B5EF4-FFF2-40B4-BE49-F238E27FC236}">
                <a16:creationId xmlns:a16="http://schemas.microsoft.com/office/drawing/2014/main" id="{A0F5889A-6033-1522-F249-F770AA3140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089" y="3008298"/>
            <a:ext cx="2324327" cy="105657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E851B66-F157-B85F-209E-C4FB6ACE3842}"/>
              </a:ext>
            </a:extLst>
          </p:cNvPr>
          <p:cNvSpPr txBox="1"/>
          <p:nvPr/>
        </p:nvSpPr>
        <p:spPr>
          <a:xfrm>
            <a:off x="88491" y="1358145"/>
            <a:ext cx="2673221" cy="4132592"/>
          </a:xfrm>
          <a:prstGeom prst="rect">
            <a:avLst/>
          </a:prstGeom>
          <a:noFill/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Team</a:t>
            </a:r>
          </a:p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Members</a:t>
            </a:r>
            <a:endParaRPr lang="el-G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0C447B-498F-2CBB-449F-9437ACFAA7BC}"/>
              </a:ext>
            </a:extLst>
          </p:cNvPr>
          <p:cNvSpPr/>
          <p:nvPr/>
        </p:nvSpPr>
        <p:spPr>
          <a:xfrm>
            <a:off x="0" y="0"/>
            <a:ext cx="2320413" cy="9340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00D76-8B3A-FA92-5C20-10E013BF9ADD}"/>
              </a:ext>
            </a:extLst>
          </p:cNvPr>
          <p:cNvSpPr txBox="1"/>
          <p:nvPr/>
        </p:nvSpPr>
        <p:spPr>
          <a:xfrm>
            <a:off x="0" y="273271"/>
            <a:ext cx="4198374" cy="361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         Project Overview &amp; Dataset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6D3086-7A29-1346-6921-3C84F9C03FA0}"/>
              </a:ext>
            </a:extLst>
          </p:cNvPr>
          <p:cNvCxnSpPr>
            <a:cxnSpLocks/>
          </p:cNvCxnSpPr>
          <p:nvPr/>
        </p:nvCxnSpPr>
        <p:spPr>
          <a:xfrm>
            <a:off x="157316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600BD9-2F0D-FD72-503E-BD0DFE843B9D}"/>
              </a:ext>
            </a:extLst>
          </p:cNvPr>
          <p:cNvCxnSpPr>
            <a:cxnSpLocks/>
          </p:cNvCxnSpPr>
          <p:nvPr/>
        </p:nvCxnSpPr>
        <p:spPr>
          <a:xfrm>
            <a:off x="11970772" y="361760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89E896-DCAE-2CE6-B88F-5CC668A679A9}"/>
              </a:ext>
            </a:extLst>
          </p:cNvPr>
          <p:cNvCxnSpPr>
            <a:cxnSpLocks/>
          </p:cNvCxnSpPr>
          <p:nvPr/>
        </p:nvCxnSpPr>
        <p:spPr>
          <a:xfrm>
            <a:off x="12103508" y="361759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71F6B0-AEF9-A617-374D-D864E1BC1F10}"/>
              </a:ext>
            </a:extLst>
          </p:cNvPr>
          <p:cNvCxnSpPr>
            <a:cxnSpLocks/>
          </p:cNvCxnSpPr>
          <p:nvPr/>
        </p:nvCxnSpPr>
        <p:spPr>
          <a:xfrm>
            <a:off x="290051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F358EB-A4FC-CCBE-5172-158ECC9F7D63}"/>
              </a:ext>
            </a:extLst>
          </p:cNvPr>
          <p:cNvCxnSpPr>
            <a:cxnSpLocks/>
          </p:cNvCxnSpPr>
          <p:nvPr/>
        </p:nvCxnSpPr>
        <p:spPr>
          <a:xfrm>
            <a:off x="417873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33E5CA6-8015-5E9E-6E1F-3E19C447E2FB}"/>
              </a:ext>
            </a:extLst>
          </p:cNvPr>
          <p:cNvSpPr txBox="1"/>
          <p:nvPr/>
        </p:nvSpPr>
        <p:spPr>
          <a:xfrm>
            <a:off x="2548727" y="2541074"/>
            <a:ext cx="2395043" cy="5456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  Vasia Galanopoulou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44" name="Graphic 43" descr="Group of women with solid fill">
            <a:extLst>
              <a:ext uri="{FF2B5EF4-FFF2-40B4-BE49-F238E27FC236}">
                <a16:creationId xmlns:a16="http://schemas.microsoft.com/office/drawing/2014/main" id="{2B45ADB4-B33A-1F52-1209-B7DB6E78D4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0051" y="3159692"/>
            <a:ext cx="395078" cy="395078"/>
          </a:xfrm>
          <a:prstGeom prst="rect">
            <a:avLst/>
          </a:prstGeom>
        </p:spPr>
      </p:pic>
      <p:pic>
        <p:nvPicPr>
          <p:cNvPr id="53" name="Graphic 52" descr="Female Profile outline">
            <a:extLst>
              <a:ext uri="{FF2B5EF4-FFF2-40B4-BE49-F238E27FC236}">
                <a16:creationId xmlns:a16="http://schemas.microsoft.com/office/drawing/2014/main" id="{FFF186E0-303B-8D15-EA04-4218AD3069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83425" y="2541074"/>
            <a:ext cx="391274" cy="37265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6E3B644-68B7-2DF3-3964-BC6CA1A53880}"/>
              </a:ext>
            </a:extLst>
          </p:cNvPr>
          <p:cNvSpPr txBox="1"/>
          <p:nvPr/>
        </p:nvSpPr>
        <p:spPr>
          <a:xfrm>
            <a:off x="2548727" y="3322957"/>
            <a:ext cx="2395043" cy="5456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  Vasiliki </a:t>
            </a:r>
            <a:r>
              <a:rPr lang="en-US" b="1" dirty="0" err="1">
                <a:solidFill>
                  <a:schemeClr val="bg1"/>
                </a:solidFill>
              </a:rPr>
              <a:t>Nterkou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56" name="Graphic 55" descr="Female Profile outline">
            <a:extLst>
              <a:ext uri="{FF2B5EF4-FFF2-40B4-BE49-F238E27FC236}">
                <a16:creationId xmlns:a16="http://schemas.microsoft.com/office/drawing/2014/main" id="{2AF77994-FACC-6F49-B512-95CBCE6956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83425" y="3391781"/>
            <a:ext cx="391274" cy="3726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154AA0F-B56D-2D37-F69C-E0B602C064C1}"/>
              </a:ext>
            </a:extLst>
          </p:cNvPr>
          <p:cNvSpPr txBox="1"/>
          <p:nvPr/>
        </p:nvSpPr>
        <p:spPr>
          <a:xfrm>
            <a:off x="2548727" y="4064873"/>
            <a:ext cx="2395043" cy="5456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  Angeliki Triantafyllou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58" name="Graphic 57" descr="Female Profile outline">
            <a:extLst>
              <a:ext uri="{FF2B5EF4-FFF2-40B4-BE49-F238E27FC236}">
                <a16:creationId xmlns:a16="http://schemas.microsoft.com/office/drawing/2014/main" id="{6DD8B4E6-2AA0-07B3-B1A4-13EE0DE5AC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83425" y="4133697"/>
            <a:ext cx="391274" cy="372657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399E976-2F45-EE52-0892-E8E7D3C2416B}"/>
              </a:ext>
            </a:extLst>
          </p:cNvPr>
          <p:cNvCxnSpPr>
            <a:cxnSpLocks/>
          </p:cNvCxnSpPr>
          <p:nvPr/>
        </p:nvCxnSpPr>
        <p:spPr>
          <a:xfrm>
            <a:off x="2241755" y="2226980"/>
            <a:ext cx="0" cy="285962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D8AAA1-AE4F-651B-B32C-DC19B53DB2EA}"/>
              </a:ext>
            </a:extLst>
          </p:cNvPr>
          <p:cNvCxnSpPr>
            <a:cxnSpLocks/>
          </p:cNvCxnSpPr>
          <p:nvPr/>
        </p:nvCxnSpPr>
        <p:spPr>
          <a:xfrm>
            <a:off x="8504902" y="2226980"/>
            <a:ext cx="0" cy="285962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7C5C9FF-96C5-E81D-2B17-B0C82E512A27}"/>
              </a:ext>
            </a:extLst>
          </p:cNvPr>
          <p:cNvSpPr txBox="1"/>
          <p:nvPr/>
        </p:nvSpPr>
        <p:spPr>
          <a:xfrm>
            <a:off x="7076661" y="3230875"/>
            <a:ext cx="1295505" cy="533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Dataset Info </a:t>
            </a:r>
            <a:endParaRPr lang="el-G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5" name="Graphic 74" descr="Database outline">
            <a:extLst>
              <a:ext uri="{FF2B5EF4-FFF2-40B4-BE49-F238E27FC236}">
                <a16:creationId xmlns:a16="http://schemas.microsoft.com/office/drawing/2014/main" id="{4BBB6321-1B80-A652-B11E-8E15D175D0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99898" y="3454607"/>
            <a:ext cx="309831" cy="309831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7F1703B2-998B-66D6-77DB-A05F8D6FA0A0}"/>
              </a:ext>
            </a:extLst>
          </p:cNvPr>
          <p:cNvSpPr txBox="1"/>
          <p:nvPr/>
        </p:nvSpPr>
        <p:spPr>
          <a:xfrm>
            <a:off x="8637638" y="2226980"/>
            <a:ext cx="3179641" cy="285962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noAutofit/>
          </a:bodyPr>
          <a:lstStyle/>
          <a:p>
            <a:endParaRPr lang="en-US" sz="1700" dirty="0">
              <a:solidFill>
                <a:schemeClr val="bg1"/>
              </a:solidFill>
            </a:endParaRPr>
          </a:p>
          <a:p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chemeClr val="bg1"/>
                </a:solidFill>
              </a:rPr>
              <a:t>Dataset: Mall Customer Segmentation</a:t>
            </a:r>
            <a:r>
              <a:rPr lang="en-US" sz="1500" dirty="0">
                <a:solidFill>
                  <a:schemeClr val="bg1"/>
                </a:solidFill>
              </a:rPr>
              <a:t>(Kaggle)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Samples:1000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Target : Client Clustering</a:t>
            </a:r>
            <a:endParaRPr lang="el-GR" sz="1500" dirty="0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FB3087D-3344-2F44-C498-EDC26B304F13}"/>
              </a:ext>
            </a:extLst>
          </p:cNvPr>
          <p:cNvSpPr/>
          <p:nvPr/>
        </p:nvSpPr>
        <p:spPr>
          <a:xfrm>
            <a:off x="5813923" y="6483823"/>
            <a:ext cx="3450105" cy="3617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A721677-84BA-1B45-0C4F-CD70F5728270}"/>
              </a:ext>
            </a:extLst>
          </p:cNvPr>
          <p:cNvSpPr/>
          <p:nvPr/>
        </p:nvSpPr>
        <p:spPr>
          <a:xfrm>
            <a:off x="9264028" y="6483823"/>
            <a:ext cx="2927972" cy="36175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DEB3F69-B8DA-C084-7C92-67C25CB0AD75}"/>
              </a:ext>
            </a:extLst>
          </p:cNvPr>
          <p:cNvSpPr/>
          <p:nvPr/>
        </p:nvSpPr>
        <p:spPr>
          <a:xfrm>
            <a:off x="5813923" y="-527"/>
            <a:ext cx="3450105" cy="36175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8DE7974-655B-1D98-5FE1-9CBAF9B54339}"/>
              </a:ext>
            </a:extLst>
          </p:cNvPr>
          <p:cNvSpPr/>
          <p:nvPr/>
        </p:nvSpPr>
        <p:spPr>
          <a:xfrm>
            <a:off x="9264028" y="-527"/>
            <a:ext cx="2927972" cy="36175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86" name="Graphic 85" descr="Bullseye outline">
            <a:extLst>
              <a:ext uri="{FF2B5EF4-FFF2-40B4-BE49-F238E27FC236}">
                <a16:creationId xmlns:a16="http://schemas.microsoft.com/office/drawing/2014/main" id="{DC4AEB97-20B8-900B-2FBF-0F797321F2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32879" y="2215898"/>
            <a:ext cx="511504" cy="51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7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686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4BF85-0A41-DF57-F11F-1439A912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B2BAD775-C5CD-9088-FDF8-EA8F582C5E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6028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B39B8E-3861-CE7D-09D0-31D6EF6C82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owchart: Off-page Connector 10">
            <a:extLst>
              <a:ext uri="{FF2B5EF4-FFF2-40B4-BE49-F238E27FC236}">
                <a16:creationId xmlns:a16="http://schemas.microsoft.com/office/drawing/2014/main" id="{9630DC16-FE91-4E0E-F6A1-FE0BEAFD47EF}"/>
              </a:ext>
            </a:extLst>
          </p:cNvPr>
          <p:cNvSpPr/>
          <p:nvPr/>
        </p:nvSpPr>
        <p:spPr>
          <a:xfrm>
            <a:off x="5414749" y="2923134"/>
            <a:ext cx="708894" cy="934066"/>
          </a:xfrm>
          <a:prstGeom prst="flowChartOffpage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F40472-04F1-A7CA-EE6D-4F3469921DD1}"/>
              </a:ext>
            </a:extLst>
          </p:cNvPr>
          <p:cNvSpPr/>
          <p:nvPr/>
        </p:nvSpPr>
        <p:spPr>
          <a:xfrm>
            <a:off x="0" y="0"/>
            <a:ext cx="2320413" cy="9340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9031E-734E-5A58-813F-1D5F7A5974C7}"/>
              </a:ext>
            </a:extLst>
          </p:cNvPr>
          <p:cNvSpPr txBox="1"/>
          <p:nvPr/>
        </p:nvSpPr>
        <p:spPr>
          <a:xfrm>
            <a:off x="0" y="273271"/>
            <a:ext cx="4710224" cy="361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         Dataset Overview &amp; Processing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50F9B8-3547-1878-57A7-0FAB37A94633}"/>
              </a:ext>
            </a:extLst>
          </p:cNvPr>
          <p:cNvCxnSpPr>
            <a:cxnSpLocks/>
          </p:cNvCxnSpPr>
          <p:nvPr/>
        </p:nvCxnSpPr>
        <p:spPr>
          <a:xfrm>
            <a:off x="157316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0DCD6C-81A0-8864-8DD6-FA9C8C16F536}"/>
              </a:ext>
            </a:extLst>
          </p:cNvPr>
          <p:cNvCxnSpPr>
            <a:cxnSpLocks/>
          </p:cNvCxnSpPr>
          <p:nvPr/>
        </p:nvCxnSpPr>
        <p:spPr>
          <a:xfrm>
            <a:off x="11970772" y="361760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5977AA-7A06-CA44-4972-BD94FADAC337}"/>
              </a:ext>
            </a:extLst>
          </p:cNvPr>
          <p:cNvCxnSpPr>
            <a:cxnSpLocks/>
          </p:cNvCxnSpPr>
          <p:nvPr/>
        </p:nvCxnSpPr>
        <p:spPr>
          <a:xfrm>
            <a:off x="12103508" y="361759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2EF17B-F189-4E4F-B037-8C134B98F801}"/>
              </a:ext>
            </a:extLst>
          </p:cNvPr>
          <p:cNvCxnSpPr>
            <a:cxnSpLocks/>
          </p:cNvCxnSpPr>
          <p:nvPr/>
        </p:nvCxnSpPr>
        <p:spPr>
          <a:xfrm>
            <a:off x="290051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50ADCD-E314-EF52-3F43-5DE799DFC11A}"/>
              </a:ext>
            </a:extLst>
          </p:cNvPr>
          <p:cNvCxnSpPr>
            <a:cxnSpLocks/>
          </p:cNvCxnSpPr>
          <p:nvPr/>
        </p:nvCxnSpPr>
        <p:spPr>
          <a:xfrm>
            <a:off x="417873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lowchart: Off-page Connector 1">
            <a:extLst>
              <a:ext uri="{FF2B5EF4-FFF2-40B4-BE49-F238E27FC236}">
                <a16:creationId xmlns:a16="http://schemas.microsoft.com/office/drawing/2014/main" id="{5130A870-46F3-6D92-A28A-C184BC224E79}"/>
              </a:ext>
            </a:extLst>
          </p:cNvPr>
          <p:cNvSpPr/>
          <p:nvPr/>
        </p:nvSpPr>
        <p:spPr>
          <a:xfrm>
            <a:off x="5383562" y="1688986"/>
            <a:ext cx="708894" cy="934066"/>
          </a:xfrm>
          <a:prstGeom prst="flowChartOffpage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305A4-630D-F73A-D0E5-58AFE97A51BD}"/>
              </a:ext>
            </a:extLst>
          </p:cNvPr>
          <p:cNvSpPr txBox="1"/>
          <p:nvPr/>
        </p:nvSpPr>
        <p:spPr>
          <a:xfrm>
            <a:off x="5536904" y="1875797"/>
            <a:ext cx="11111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</a:rPr>
              <a:t>1</a:t>
            </a:r>
            <a:endParaRPr lang="el-GR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B97E5-30EA-1F1D-6924-8E72C8E2F60E}"/>
              </a:ext>
            </a:extLst>
          </p:cNvPr>
          <p:cNvSpPr txBox="1"/>
          <p:nvPr/>
        </p:nvSpPr>
        <p:spPr>
          <a:xfrm>
            <a:off x="6245798" y="1575715"/>
            <a:ext cx="62165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Drop Unneeded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Handle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Encode categorical data</a:t>
            </a:r>
            <a:endParaRPr lang="el-G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1DA39-A8A6-7048-B3DF-CFBC5BA16017}"/>
              </a:ext>
            </a:extLst>
          </p:cNvPr>
          <p:cNvSpPr txBox="1"/>
          <p:nvPr/>
        </p:nvSpPr>
        <p:spPr>
          <a:xfrm>
            <a:off x="6307524" y="2809210"/>
            <a:ext cx="6216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K-means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Apply 5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Assign labels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D1CA5-7542-3068-1053-8A0235B00717}"/>
              </a:ext>
            </a:extLst>
          </p:cNvPr>
          <p:cNvSpPr txBox="1"/>
          <p:nvPr/>
        </p:nvSpPr>
        <p:spPr>
          <a:xfrm>
            <a:off x="5598630" y="3109945"/>
            <a:ext cx="11111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</a:rPr>
              <a:t>2</a:t>
            </a:r>
            <a:endParaRPr lang="el-GR" sz="2500" dirty="0">
              <a:solidFill>
                <a:schemeClr val="bg1"/>
              </a:solidFill>
            </a:endParaRPr>
          </a:p>
        </p:txBody>
      </p:sp>
      <p:sp>
        <p:nvSpPr>
          <p:cNvPr id="12" name="Flowchart: Off-page Connector 11">
            <a:extLst>
              <a:ext uri="{FF2B5EF4-FFF2-40B4-BE49-F238E27FC236}">
                <a16:creationId xmlns:a16="http://schemas.microsoft.com/office/drawing/2014/main" id="{6647ECCA-C1A1-C5C0-96E1-3729DCCEE0B6}"/>
              </a:ext>
            </a:extLst>
          </p:cNvPr>
          <p:cNvSpPr/>
          <p:nvPr/>
        </p:nvSpPr>
        <p:spPr>
          <a:xfrm>
            <a:off x="5414749" y="4147261"/>
            <a:ext cx="708894" cy="934066"/>
          </a:xfrm>
          <a:prstGeom prst="flowChartOffpage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D37809-600B-B580-793D-E7EB914730D8}"/>
              </a:ext>
            </a:extLst>
          </p:cNvPr>
          <p:cNvSpPr txBox="1"/>
          <p:nvPr/>
        </p:nvSpPr>
        <p:spPr>
          <a:xfrm>
            <a:off x="6232002" y="4031370"/>
            <a:ext cx="62165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Who are the main types of customers?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Which customers spend the most?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Which customer segments have the potential to increase their spending?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00D2D1-C9A8-CC0A-43AA-B682FAE82E51}"/>
              </a:ext>
            </a:extLst>
          </p:cNvPr>
          <p:cNvSpPr txBox="1"/>
          <p:nvPr/>
        </p:nvSpPr>
        <p:spPr>
          <a:xfrm>
            <a:off x="5598630" y="4314212"/>
            <a:ext cx="11111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</a:rPr>
              <a:t>3</a:t>
            </a:r>
            <a:endParaRPr lang="el-GR" sz="25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2EEF3E-E466-AACB-10CB-A4A990BA9EE9}"/>
              </a:ext>
            </a:extLst>
          </p:cNvPr>
          <p:cNvSpPr txBox="1"/>
          <p:nvPr/>
        </p:nvSpPr>
        <p:spPr>
          <a:xfrm>
            <a:off x="316387" y="1906668"/>
            <a:ext cx="61030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Gender (M, F)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Age (18–80)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Annual income in thousand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USD (15–150)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Spending Score (1–100)</a:t>
            </a:r>
            <a:endParaRPr lang="el-G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DF61E3-366C-B2D0-7D6E-4319ECC3DA52}"/>
              </a:ext>
            </a:extLst>
          </p:cNvPr>
          <p:cNvSpPr txBox="1"/>
          <p:nvPr/>
        </p:nvSpPr>
        <p:spPr>
          <a:xfrm>
            <a:off x="349566" y="1549054"/>
            <a:ext cx="4218881" cy="31907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Features</a:t>
            </a:r>
            <a:endParaRPr lang="el-GR" sz="2000" b="1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BADE0F-DBFC-237E-FEB5-147EE389293D}"/>
              </a:ext>
            </a:extLst>
          </p:cNvPr>
          <p:cNvSpPr/>
          <p:nvPr/>
        </p:nvSpPr>
        <p:spPr>
          <a:xfrm>
            <a:off x="349567" y="1840258"/>
            <a:ext cx="4218876" cy="2473953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28" name="Graphic 27" descr="Gender with solid fill">
            <a:extLst>
              <a:ext uri="{FF2B5EF4-FFF2-40B4-BE49-F238E27FC236}">
                <a16:creationId xmlns:a16="http://schemas.microsoft.com/office/drawing/2014/main" id="{4AEE28B3-9416-7913-1F13-938DDE58F9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9563" y="1906668"/>
            <a:ext cx="379286" cy="379286"/>
          </a:xfrm>
          <a:prstGeom prst="rect">
            <a:avLst/>
          </a:prstGeom>
        </p:spPr>
      </p:pic>
      <p:pic>
        <p:nvPicPr>
          <p:cNvPr id="30" name="Graphic 29" descr="Money outline">
            <a:extLst>
              <a:ext uri="{FF2B5EF4-FFF2-40B4-BE49-F238E27FC236}">
                <a16:creationId xmlns:a16="http://schemas.microsoft.com/office/drawing/2014/main" id="{78CC1971-B57D-DC7E-6C99-E9703A592E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9563" y="3108588"/>
            <a:ext cx="366410" cy="379286"/>
          </a:xfrm>
          <a:prstGeom prst="rect">
            <a:avLst/>
          </a:prstGeom>
        </p:spPr>
      </p:pic>
      <p:pic>
        <p:nvPicPr>
          <p:cNvPr id="32" name="Graphic 31" descr="Cycle with people outline">
            <a:extLst>
              <a:ext uri="{FF2B5EF4-FFF2-40B4-BE49-F238E27FC236}">
                <a16:creationId xmlns:a16="http://schemas.microsoft.com/office/drawing/2014/main" id="{951D1809-ADD5-C894-975E-F67C9F75C7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6987" y="2406282"/>
            <a:ext cx="504438" cy="504438"/>
          </a:xfrm>
          <a:prstGeom prst="rect">
            <a:avLst/>
          </a:prstGeom>
        </p:spPr>
      </p:pic>
      <p:pic>
        <p:nvPicPr>
          <p:cNvPr id="34" name="Graphic 33" descr="List outline">
            <a:extLst>
              <a:ext uri="{FF2B5EF4-FFF2-40B4-BE49-F238E27FC236}">
                <a16:creationId xmlns:a16="http://schemas.microsoft.com/office/drawing/2014/main" id="{1982EC50-D1B7-FF3D-CAD4-CA0F1FE827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6987" y="3816877"/>
            <a:ext cx="428986" cy="42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52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686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6033C-CDCB-06AE-64A0-92CB6ABB4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C8C3CAF8-4717-CF42-0345-6169138F18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B39B8E-3861-CE7D-09D0-31D6EF6C82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CBDEB63-E416-4265-BF45-FAB35816395B}"/>
              </a:ext>
            </a:extLst>
          </p:cNvPr>
          <p:cNvSpPr/>
          <p:nvPr/>
        </p:nvSpPr>
        <p:spPr>
          <a:xfrm>
            <a:off x="0" y="1"/>
            <a:ext cx="2320413" cy="6732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D170E-2B5D-7483-6CC5-43EF95593DCD}"/>
              </a:ext>
            </a:extLst>
          </p:cNvPr>
          <p:cNvSpPr txBox="1"/>
          <p:nvPr/>
        </p:nvSpPr>
        <p:spPr>
          <a:xfrm>
            <a:off x="-1" y="166945"/>
            <a:ext cx="5135525" cy="361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         Demographic Analysis of Customers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59B804-8AA5-2164-523D-CB0DC4CCE311}"/>
              </a:ext>
            </a:extLst>
          </p:cNvPr>
          <p:cNvCxnSpPr>
            <a:cxnSpLocks/>
          </p:cNvCxnSpPr>
          <p:nvPr/>
        </p:nvCxnSpPr>
        <p:spPr>
          <a:xfrm>
            <a:off x="157316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9C6C34-9184-F306-EC7B-74D87A17F0F3}"/>
              </a:ext>
            </a:extLst>
          </p:cNvPr>
          <p:cNvCxnSpPr>
            <a:cxnSpLocks/>
          </p:cNvCxnSpPr>
          <p:nvPr/>
        </p:nvCxnSpPr>
        <p:spPr>
          <a:xfrm>
            <a:off x="11970772" y="361760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31FFCE-DE8F-3B7A-DDDE-83995EB35CDE}"/>
              </a:ext>
            </a:extLst>
          </p:cNvPr>
          <p:cNvCxnSpPr>
            <a:cxnSpLocks/>
          </p:cNvCxnSpPr>
          <p:nvPr/>
        </p:nvCxnSpPr>
        <p:spPr>
          <a:xfrm>
            <a:off x="12103508" y="361759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32A120-F61C-3B94-D94C-310E2864CB3C}"/>
              </a:ext>
            </a:extLst>
          </p:cNvPr>
          <p:cNvCxnSpPr>
            <a:cxnSpLocks/>
          </p:cNvCxnSpPr>
          <p:nvPr/>
        </p:nvCxnSpPr>
        <p:spPr>
          <a:xfrm>
            <a:off x="290051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BA56D2-FD62-AE55-868D-A6396A2BE6FD}"/>
              </a:ext>
            </a:extLst>
          </p:cNvPr>
          <p:cNvCxnSpPr>
            <a:cxnSpLocks/>
          </p:cNvCxnSpPr>
          <p:nvPr/>
        </p:nvCxnSpPr>
        <p:spPr>
          <a:xfrm>
            <a:off x="417873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A61CD16-A835-6FB7-E13E-E41A054E8B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7" b="3907"/>
          <a:stretch>
            <a:fillRect/>
          </a:stretch>
        </p:blipFill>
        <p:spPr>
          <a:xfrm>
            <a:off x="6908040" y="1102573"/>
            <a:ext cx="4814258" cy="25178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8A2B39-C70D-5A1D-9C30-3161B3B1EA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8" t="7599" r="3092" b="3707"/>
          <a:stretch>
            <a:fillRect/>
          </a:stretch>
        </p:blipFill>
        <p:spPr>
          <a:xfrm>
            <a:off x="3023331" y="1030013"/>
            <a:ext cx="2779761" cy="26382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19C0FC-07CD-22D5-0CD8-F181C0CD26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65"/>
          <a:stretch>
            <a:fillRect/>
          </a:stretch>
        </p:blipFill>
        <p:spPr>
          <a:xfrm>
            <a:off x="6767542" y="4175391"/>
            <a:ext cx="5134689" cy="25878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17E29C-D295-5716-FC83-8A0AEC4A60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6"/>
          <a:stretch>
            <a:fillRect/>
          </a:stretch>
        </p:blipFill>
        <p:spPr>
          <a:xfrm>
            <a:off x="2099187" y="4223902"/>
            <a:ext cx="4454954" cy="250650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494CCA7-F3BD-669B-B1C2-4EA4C5822DCB}"/>
              </a:ext>
            </a:extLst>
          </p:cNvPr>
          <p:cNvSpPr/>
          <p:nvPr/>
        </p:nvSpPr>
        <p:spPr>
          <a:xfrm>
            <a:off x="2153663" y="721767"/>
            <a:ext cx="4431891" cy="2898675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0C9E22-7486-41F9-DCC9-AF60E8A87B91}"/>
              </a:ext>
            </a:extLst>
          </p:cNvPr>
          <p:cNvSpPr txBox="1"/>
          <p:nvPr/>
        </p:nvSpPr>
        <p:spPr>
          <a:xfrm>
            <a:off x="2149319" y="735307"/>
            <a:ext cx="4431891" cy="2717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Gender</a:t>
            </a:r>
            <a:endParaRPr lang="el-GR" sz="1500" b="1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88AA2C-79CE-2471-8687-6252D14DC119}"/>
              </a:ext>
            </a:extLst>
          </p:cNvPr>
          <p:cNvSpPr/>
          <p:nvPr/>
        </p:nvSpPr>
        <p:spPr>
          <a:xfrm>
            <a:off x="6767542" y="735307"/>
            <a:ext cx="5070493" cy="2898675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0638F6-BEFA-4EE8-3D44-66430C5B2DAE}"/>
              </a:ext>
            </a:extLst>
          </p:cNvPr>
          <p:cNvSpPr txBox="1"/>
          <p:nvPr/>
        </p:nvSpPr>
        <p:spPr>
          <a:xfrm>
            <a:off x="6775305" y="740333"/>
            <a:ext cx="5058386" cy="2716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Age</a:t>
            </a:r>
            <a:endParaRPr lang="el-GR" sz="1500" b="1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BEF3B0-2E3A-E44A-4453-AEC8E8AE1B0C}"/>
              </a:ext>
            </a:extLst>
          </p:cNvPr>
          <p:cNvSpPr txBox="1"/>
          <p:nvPr/>
        </p:nvSpPr>
        <p:spPr>
          <a:xfrm>
            <a:off x="2153664" y="3864566"/>
            <a:ext cx="4400471" cy="3108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Gender</a:t>
            </a:r>
            <a:endParaRPr lang="el-GR" sz="1500" b="1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87DD59-8E38-F285-75D3-3046C52E87F1}"/>
              </a:ext>
            </a:extLst>
          </p:cNvPr>
          <p:cNvSpPr/>
          <p:nvPr/>
        </p:nvSpPr>
        <p:spPr>
          <a:xfrm>
            <a:off x="2153664" y="3864566"/>
            <a:ext cx="4400469" cy="2898675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A67FB0-ED67-FA12-42D8-1EEB857A9CF0}"/>
              </a:ext>
            </a:extLst>
          </p:cNvPr>
          <p:cNvSpPr txBox="1"/>
          <p:nvPr/>
        </p:nvSpPr>
        <p:spPr>
          <a:xfrm>
            <a:off x="6767542" y="3864566"/>
            <a:ext cx="5066148" cy="2936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Gender</a:t>
            </a:r>
            <a:endParaRPr lang="el-GR" sz="1500" b="1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885031-35D0-644B-D1A4-019C10BE1644}"/>
              </a:ext>
            </a:extLst>
          </p:cNvPr>
          <p:cNvSpPr/>
          <p:nvPr/>
        </p:nvSpPr>
        <p:spPr>
          <a:xfrm>
            <a:off x="6767534" y="3864566"/>
            <a:ext cx="5070493" cy="2898675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479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686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B682A-DC63-8296-7CFD-880B6544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AC58DC60-00E4-FF97-D686-8F754E5F45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10336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C3CAF8-4717-CF42-0345-6169138F18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9A092A01-2271-751C-09FC-E9DC74AAADFE}"/>
              </a:ext>
            </a:extLst>
          </p:cNvPr>
          <p:cNvSpPr/>
          <p:nvPr/>
        </p:nvSpPr>
        <p:spPr>
          <a:xfrm>
            <a:off x="0" y="1"/>
            <a:ext cx="2320413" cy="6732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53E28C-005B-008C-BE8B-1F414B0B21DB}"/>
              </a:ext>
            </a:extLst>
          </p:cNvPr>
          <p:cNvSpPr txBox="1"/>
          <p:nvPr/>
        </p:nvSpPr>
        <p:spPr>
          <a:xfrm>
            <a:off x="-1" y="166945"/>
            <a:ext cx="5135525" cy="361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         K-Means Clustering of Customers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006E3B-3E7C-D674-212E-24FB67CA5584}"/>
              </a:ext>
            </a:extLst>
          </p:cNvPr>
          <p:cNvCxnSpPr>
            <a:cxnSpLocks/>
          </p:cNvCxnSpPr>
          <p:nvPr/>
        </p:nvCxnSpPr>
        <p:spPr>
          <a:xfrm>
            <a:off x="157316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6FEEEE-40D6-27D3-5EB5-0FBE3EA705D3}"/>
              </a:ext>
            </a:extLst>
          </p:cNvPr>
          <p:cNvCxnSpPr>
            <a:cxnSpLocks/>
          </p:cNvCxnSpPr>
          <p:nvPr/>
        </p:nvCxnSpPr>
        <p:spPr>
          <a:xfrm>
            <a:off x="11970772" y="361760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80A6B4-41AB-24AD-F811-8CBF2959B78A}"/>
              </a:ext>
            </a:extLst>
          </p:cNvPr>
          <p:cNvCxnSpPr>
            <a:cxnSpLocks/>
          </p:cNvCxnSpPr>
          <p:nvPr/>
        </p:nvCxnSpPr>
        <p:spPr>
          <a:xfrm>
            <a:off x="12103508" y="361759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3DAB57-3AEF-F2CB-BB9E-41237A66FB67}"/>
              </a:ext>
            </a:extLst>
          </p:cNvPr>
          <p:cNvCxnSpPr>
            <a:cxnSpLocks/>
          </p:cNvCxnSpPr>
          <p:nvPr/>
        </p:nvCxnSpPr>
        <p:spPr>
          <a:xfrm>
            <a:off x="290051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E9F7F3-E381-8176-098A-4B38C924828E}"/>
              </a:ext>
            </a:extLst>
          </p:cNvPr>
          <p:cNvCxnSpPr>
            <a:cxnSpLocks/>
          </p:cNvCxnSpPr>
          <p:nvPr/>
        </p:nvCxnSpPr>
        <p:spPr>
          <a:xfrm>
            <a:off x="417873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BB4786A-C8B6-5C26-1904-05E1DC2C8D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8" b="1"/>
          <a:stretch>
            <a:fillRect/>
          </a:stretch>
        </p:blipFill>
        <p:spPr>
          <a:xfrm>
            <a:off x="1864203" y="1212969"/>
            <a:ext cx="7577510" cy="56450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EFFF6E-1184-F415-74A0-DB1F671C2527}"/>
              </a:ext>
            </a:extLst>
          </p:cNvPr>
          <p:cNvSpPr txBox="1"/>
          <p:nvPr/>
        </p:nvSpPr>
        <p:spPr>
          <a:xfrm>
            <a:off x="1945759" y="799155"/>
            <a:ext cx="7495954" cy="4138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K-Means</a:t>
            </a:r>
            <a:endParaRPr lang="el-GR" sz="1500" b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E35350-AF7A-43A4-E0B2-1FC8E09FFEB6}"/>
              </a:ext>
            </a:extLst>
          </p:cNvPr>
          <p:cNvSpPr/>
          <p:nvPr/>
        </p:nvSpPr>
        <p:spPr>
          <a:xfrm>
            <a:off x="1945759" y="799155"/>
            <a:ext cx="7495954" cy="5973785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599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686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4CF9F-93AC-0228-248A-37A908F4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9429BAA5-0CD1-C69F-D259-7FBBD477828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58DC60-00E4-FF97-D686-8F754E5F45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E34A12C7-7389-11E7-9571-BFFD5BA7D297}"/>
              </a:ext>
            </a:extLst>
          </p:cNvPr>
          <p:cNvSpPr/>
          <p:nvPr/>
        </p:nvSpPr>
        <p:spPr>
          <a:xfrm>
            <a:off x="0" y="1"/>
            <a:ext cx="2320413" cy="6732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2C663-1A33-B77B-1DA0-B2A30A63BC02}"/>
              </a:ext>
            </a:extLst>
          </p:cNvPr>
          <p:cNvSpPr txBox="1"/>
          <p:nvPr/>
        </p:nvSpPr>
        <p:spPr>
          <a:xfrm>
            <a:off x="-1" y="166945"/>
            <a:ext cx="5135525" cy="361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         Cluster Profiles Overview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3FCB35-3285-C179-ED8E-1A7B844BF43F}"/>
              </a:ext>
            </a:extLst>
          </p:cNvPr>
          <p:cNvCxnSpPr>
            <a:cxnSpLocks/>
          </p:cNvCxnSpPr>
          <p:nvPr/>
        </p:nvCxnSpPr>
        <p:spPr>
          <a:xfrm>
            <a:off x="157316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1B2BFC-FA0B-1623-98C9-A3B4E90D8E0B}"/>
              </a:ext>
            </a:extLst>
          </p:cNvPr>
          <p:cNvCxnSpPr>
            <a:cxnSpLocks/>
          </p:cNvCxnSpPr>
          <p:nvPr/>
        </p:nvCxnSpPr>
        <p:spPr>
          <a:xfrm>
            <a:off x="11970772" y="361760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49DCFF-6144-C2C5-036F-43FA01698BC6}"/>
              </a:ext>
            </a:extLst>
          </p:cNvPr>
          <p:cNvCxnSpPr>
            <a:cxnSpLocks/>
          </p:cNvCxnSpPr>
          <p:nvPr/>
        </p:nvCxnSpPr>
        <p:spPr>
          <a:xfrm>
            <a:off x="12103508" y="361759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ED2000-563E-27B4-3F3C-8E7FC117A513}"/>
              </a:ext>
            </a:extLst>
          </p:cNvPr>
          <p:cNvCxnSpPr>
            <a:cxnSpLocks/>
          </p:cNvCxnSpPr>
          <p:nvPr/>
        </p:nvCxnSpPr>
        <p:spPr>
          <a:xfrm>
            <a:off x="290051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635FEB3-2B7C-C94F-41F0-C6DFEDCA894A}"/>
              </a:ext>
            </a:extLst>
          </p:cNvPr>
          <p:cNvCxnSpPr>
            <a:cxnSpLocks/>
          </p:cNvCxnSpPr>
          <p:nvPr/>
        </p:nvCxnSpPr>
        <p:spPr>
          <a:xfrm>
            <a:off x="417873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1D9B154-42F0-3160-F882-46375AD275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1" b="3909"/>
          <a:stretch>
            <a:fillRect/>
          </a:stretch>
        </p:blipFill>
        <p:spPr>
          <a:xfrm>
            <a:off x="653842" y="1371603"/>
            <a:ext cx="11176301" cy="5241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203416-9377-3679-B891-5B1FC00A75A1}"/>
              </a:ext>
            </a:extLst>
          </p:cNvPr>
          <p:cNvSpPr txBox="1"/>
          <p:nvPr/>
        </p:nvSpPr>
        <p:spPr>
          <a:xfrm>
            <a:off x="653843" y="1001182"/>
            <a:ext cx="11120282" cy="3617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Cluster Profiles</a:t>
            </a:r>
            <a:endParaRPr lang="el-GR" sz="1500" b="1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57A489-1A4D-55A6-83E2-6242CC37A356}"/>
              </a:ext>
            </a:extLst>
          </p:cNvPr>
          <p:cNvSpPr/>
          <p:nvPr/>
        </p:nvSpPr>
        <p:spPr>
          <a:xfrm>
            <a:off x="653842" y="1362941"/>
            <a:ext cx="11120283" cy="5241851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36406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686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66C84-A514-9D95-02C8-D3C3BB02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EB557128-189D-7383-0934-A29961344A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29BAA5-0CD1-C69F-D259-7FBBD47782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489859F3-1094-74E8-DA09-F07D13773266}"/>
              </a:ext>
            </a:extLst>
          </p:cNvPr>
          <p:cNvSpPr/>
          <p:nvPr/>
        </p:nvSpPr>
        <p:spPr>
          <a:xfrm>
            <a:off x="0" y="1"/>
            <a:ext cx="2320413" cy="6732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1B65B-AA70-B404-D682-A7781797B0F2}"/>
              </a:ext>
            </a:extLst>
          </p:cNvPr>
          <p:cNvSpPr txBox="1"/>
          <p:nvPr/>
        </p:nvSpPr>
        <p:spPr>
          <a:xfrm>
            <a:off x="-1" y="166945"/>
            <a:ext cx="5135525" cy="361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         K-Means Clustering of Customers</a:t>
            </a:r>
            <a:r>
              <a:rPr lang="en-US" sz="1500" b="1" dirty="0">
                <a:solidFill>
                  <a:schemeClr val="bg1"/>
                </a:solidFill>
              </a:rPr>
              <a:t>(1/2)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B46D9F-1FBE-2B7E-78C8-F0834CC3A1FC}"/>
              </a:ext>
            </a:extLst>
          </p:cNvPr>
          <p:cNvCxnSpPr>
            <a:cxnSpLocks/>
          </p:cNvCxnSpPr>
          <p:nvPr/>
        </p:nvCxnSpPr>
        <p:spPr>
          <a:xfrm>
            <a:off x="157316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0129AA-50AA-8BD4-DDD0-62FFABE543DE}"/>
              </a:ext>
            </a:extLst>
          </p:cNvPr>
          <p:cNvCxnSpPr>
            <a:cxnSpLocks/>
          </p:cNvCxnSpPr>
          <p:nvPr/>
        </p:nvCxnSpPr>
        <p:spPr>
          <a:xfrm>
            <a:off x="11970772" y="361760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30B377-2C60-BA16-8039-ADDEDA925C93}"/>
              </a:ext>
            </a:extLst>
          </p:cNvPr>
          <p:cNvCxnSpPr>
            <a:cxnSpLocks/>
          </p:cNvCxnSpPr>
          <p:nvPr/>
        </p:nvCxnSpPr>
        <p:spPr>
          <a:xfrm>
            <a:off x="12103508" y="361759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DA0453-4EE4-F0CD-7090-FCA6724E9D31}"/>
              </a:ext>
            </a:extLst>
          </p:cNvPr>
          <p:cNvCxnSpPr>
            <a:cxnSpLocks/>
          </p:cNvCxnSpPr>
          <p:nvPr/>
        </p:nvCxnSpPr>
        <p:spPr>
          <a:xfrm>
            <a:off x="290051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DEE82D-4C85-B43A-2ED7-2F7ED3441F88}"/>
              </a:ext>
            </a:extLst>
          </p:cNvPr>
          <p:cNvCxnSpPr>
            <a:cxnSpLocks/>
          </p:cNvCxnSpPr>
          <p:nvPr/>
        </p:nvCxnSpPr>
        <p:spPr>
          <a:xfrm>
            <a:off x="417873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BC86DA4-953B-9C34-07AB-94338792EF43}"/>
              </a:ext>
            </a:extLst>
          </p:cNvPr>
          <p:cNvSpPr txBox="1"/>
          <p:nvPr/>
        </p:nvSpPr>
        <p:spPr>
          <a:xfrm>
            <a:off x="88491" y="791188"/>
            <a:ext cx="3554697" cy="3617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Young Impulsive Spenders</a:t>
            </a:r>
            <a:endParaRPr lang="el-GR" sz="1500" b="1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811E61-F80A-3943-C33A-E268ADD6F7D9}"/>
              </a:ext>
            </a:extLst>
          </p:cNvPr>
          <p:cNvSpPr/>
          <p:nvPr/>
        </p:nvSpPr>
        <p:spPr>
          <a:xfrm>
            <a:off x="88491" y="791188"/>
            <a:ext cx="3554697" cy="3572367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7717A3-4BA6-876E-3C64-A84B4548C3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36"/>
          <a:stretch>
            <a:fillRect/>
          </a:stretch>
        </p:blipFill>
        <p:spPr>
          <a:xfrm>
            <a:off x="155850" y="1238810"/>
            <a:ext cx="3487338" cy="3124746"/>
          </a:xfrm>
          <a:prstGeom prst="rect">
            <a:avLst/>
          </a:prstGeom>
        </p:spPr>
      </p:pic>
      <p:pic>
        <p:nvPicPr>
          <p:cNvPr id="18" name="Graphic 17" descr="Lightbulb and gear outline">
            <a:extLst>
              <a:ext uri="{FF2B5EF4-FFF2-40B4-BE49-F238E27FC236}">
                <a16:creationId xmlns:a16="http://schemas.microsoft.com/office/drawing/2014/main" id="{F19F215C-6C5D-46A1-CAF5-DDA0B9F868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227" y="4351486"/>
            <a:ext cx="368941" cy="3689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74CED8E-A6C7-3C36-90E3-3CBB3E1B685E}"/>
              </a:ext>
            </a:extLst>
          </p:cNvPr>
          <p:cNvSpPr txBox="1"/>
          <p:nvPr/>
        </p:nvSpPr>
        <p:spPr>
          <a:xfrm>
            <a:off x="422499" y="4253619"/>
            <a:ext cx="1855790" cy="564674"/>
          </a:xfrm>
          <a:prstGeom prst="rect">
            <a:avLst/>
          </a:prstGeom>
          <a:noFill/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Insights</a:t>
            </a:r>
            <a:endParaRPr lang="el-G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EB11A2A-19E1-C13B-CC50-85F68BFCCB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2"/>
          <a:stretch>
            <a:fillRect/>
          </a:stretch>
        </p:blipFill>
        <p:spPr>
          <a:xfrm>
            <a:off x="4086379" y="1142176"/>
            <a:ext cx="3815255" cy="32839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8714972-DA25-AF5B-3E37-447D0C2E37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72"/>
          <a:stretch>
            <a:fillRect/>
          </a:stretch>
        </p:blipFill>
        <p:spPr>
          <a:xfrm>
            <a:off x="8219429" y="1066218"/>
            <a:ext cx="3815255" cy="34358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156065E-41FC-1DE0-1868-CB85A2B9C035}"/>
              </a:ext>
            </a:extLst>
          </p:cNvPr>
          <p:cNvCxnSpPr/>
          <p:nvPr/>
        </p:nvCxnSpPr>
        <p:spPr>
          <a:xfrm>
            <a:off x="88492" y="4752497"/>
            <a:ext cx="1210350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4A07412-C0DC-27A8-7038-449303F1CFF4}"/>
              </a:ext>
            </a:extLst>
          </p:cNvPr>
          <p:cNvSpPr txBox="1"/>
          <p:nvPr/>
        </p:nvSpPr>
        <p:spPr>
          <a:xfrm>
            <a:off x="4086379" y="784609"/>
            <a:ext cx="3739190" cy="3617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Average middle-class customers</a:t>
            </a:r>
            <a:endParaRPr lang="el-GR" sz="150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F132C2-924B-C11D-5F3E-90D5ED22F879}"/>
              </a:ext>
            </a:extLst>
          </p:cNvPr>
          <p:cNvSpPr/>
          <p:nvPr/>
        </p:nvSpPr>
        <p:spPr>
          <a:xfrm>
            <a:off x="4086379" y="791188"/>
            <a:ext cx="3739190" cy="3572367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5FB52A-DB94-3D56-EAD2-BF439A23238D}"/>
              </a:ext>
            </a:extLst>
          </p:cNvPr>
          <p:cNvSpPr txBox="1"/>
          <p:nvPr/>
        </p:nvSpPr>
        <p:spPr>
          <a:xfrm>
            <a:off x="8288253" y="791187"/>
            <a:ext cx="3815255" cy="3617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High-income conservative spenders</a:t>
            </a:r>
            <a:endParaRPr lang="el-GR" sz="1500" b="1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2FE0AF-C2FB-2314-0B35-3C7E3B8D752D}"/>
              </a:ext>
            </a:extLst>
          </p:cNvPr>
          <p:cNvSpPr/>
          <p:nvPr/>
        </p:nvSpPr>
        <p:spPr>
          <a:xfrm>
            <a:off x="8288251" y="1129202"/>
            <a:ext cx="3815251" cy="3234354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B95472-8D74-D257-68A7-3846BDD570AB}"/>
              </a:ext>
            </a:extLst>
          </p:cNvPr>
          <p:cNvSpPr txBox="1"/>
          <p:nvPr/>
        </p:nvSpPr>
        <p:spPr>
          <a:xfrm>
            <a:off x="88491" y="4701126"/>
            <a:ext cx="2727709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Characteristics</a:t>
            </a:r>
            <a:r>
              <a:rPr lang="en-US" sz="15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  <a:br>
              <a:rPr lang="en-US" sz="15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 Age: 28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Annual  Income: 29k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 Mean Spending Score: 66</a:t>
            </a:r>
            <a:endParaRPr lang="el-G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3FBA57-E158-0642-F299-D8725FB19214}"/>
              </a:ext>
            </a:extLst>
          </p:cNvPr>
          <p:cNvSpPr txBox="1"/>
          <p:nvPr/>
        </p:nvSpPr>
        <p:spPr>
          <a:xfrm>
            <a:off x="155850" y="5716789"/>
            <a:ext cx="249165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Marketing strategy: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 Flash sales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 Social media ads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 Limited offers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 Influencer marketing</a:t>
            </a:r>
            <a:endParaRPr lang="el-G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509A74-80D5-FB5B-9A36-605A8B0D253F}"/>
              </a:ext>
            </a:extLst>
          </p:cNvPr>
          <p:cNvSpPr txBox="1"/>
          <p:nvPr/>
        </p:nvSpPr>
        <p:spPr>
          <a:xfrm>
            <a:off x="4086379" y="4721122"/>
            <a:ext cx="27277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Characteristics: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 Age: 39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Annual  Income: 60k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Spending Score: 42</a:t>
            </a:r>
            <a:endParaRPr lang="el-G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A7F1A2-E8A4-E7BC-326B-C223A687CE0D}"/>
              </a:ext>
            </a:extLst>
          </p:cNvPr>
          <p:cNvSpPr txBox="1"/>
          <p:nvPr/>
        </p:nvSpPr>
        <p:spPr>
          <a:xfrm>
            <a:off x="4153738" y="5736785"/>
            <a:ext cx="24916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Marketing strategy: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</a:t>
            </a:r>
            <a:r>
              <a:rPr lang="en-US" sz="1400" dirty="0"/>
              <a:t>•   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Loyalty programs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 Personalized promotions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 Seasonal offers</a:t>
            </a:r>
            <a:endParaRPr lang="el-G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FB00F1-16DD-5994-B2F4-AFE3B3727C0F}"/>
              </a:ext>
            </a:extLst>
          </p:cNvPr>
          <p:cNvSpPr txBox="1"/>
          <p:nvPr/>
        </p:nvSpPr>
        <p:spPr>
          <a:xfrm>
            <a:off x="8159716" y="4713135"/>
            <a:ext cx="27277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Characteristics: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 Age: 46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Annual  Income: 83k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 Mean Spending Score: 26</a:t>
            </a:r>
            <a:endParaRPr lang="el-G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1CE154-B410-5C0A-06CA-1B1F68D1D9AA}"/>
              </a:ext>
            </a:extLst>
          </p:cNvPr>
          <p:cNvSpPr txBox="1"/>
          <p:nvPr/>
        </p:nvSpPr>
        <p:spPr>
          <a:xfrm>
            <a:off x="8227075" y="5728798"/>
            <a:ext cx="24916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Marketing strategy: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 •    Premium experiences  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  •    Exclusive offers   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  •    Luxury branding</a:t>
            </a:r>
            <a:endParaRPr lang="el-G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8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686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3FE20-A3E0-5036-56EB-1600B5DC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D13F7BB9-78AA-A5CD-5A97-D660441232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557128-189D-7383-0934-A29961344A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7585B9AE-8F7A-DD9D-A02C-E650F0953043}"/>
              </a:ext>
            </a:extLst>
          </p:cNvPr>
          <p:cNvSpPr/>
          <p:nvPr/>
        </p:nvSpPr>
        <p:spPr>
          <a:xfrm>
            <a:off x="0" y="1"/>
            <a:ext cx="2320413" cy="6732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C0409-7082-BE98-3E7A-91E864397B00}"/>
              </a:ext>
            </a:extLst>
          </p:cNvPr>
          <p:cNvSpPr txBox="1"/>
          <p:nvPr/>
        </p:nvSpPr>
        <p:spPr>
          <a:xfrm>
            <a:off x="-1" y="166945"/>
            <a:ext cx="5135525" cy="361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         K-Means Clustering of Customers</a:t>
            </a:r>
            <a:r>
              <a:rPr lang="en-US" sz="1500" b="1" dirty="0">
                <a:solidFill>
                  <a:schemeClr val="bg1"/>
                </a:solidFill>
              </a:rPr>
              <a:t>(2/2)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E0D831-252C-DA84-4832-DCE12F3D80D9}"/>
              </a:ext>
            </a:extLst>
          </p:cNvPr>
          <p:cNvCxnSpPr>
            <a:cxnSpLocks/>
          </p:cNvCxnSpPr>
          <p:nvPr/>
        </p:nvCxnSpPr>
        <p:spPr>
          <a:xfrm>
            <a:off x="157316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0B07FE-98DA-3430-7637-E7AF445B7C59}"/>
              </a:ext>
            </a:extLst>
          </p:cNvPr>
          <p:cNvCxnSpPr>
            <a:cxnSpLocks/>
          </p:cNvCxnSpPr>
          <p:nvPr/>
        </p:nvCxnSpPr>
        <p:spPr>
          <a:xfrm>
            <a:off x="11970772" y="361760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4D8627-E2E1-473C-883E-25EA47CECEE4}"/>
              </a:ext>
            </a:extLst>
          </p:cNvPr>
          <p:cNvCxnSpPr>
            <a:cxnSpLocks/>
          </p:cNvCxnSpPr>
          <p:nvPr/>
        </p:nvCxnSpPr>
        <p:spPr>
          <a:xfrm>
            <a:off x="12103508" y="361759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581676-4E0D-32E7-EE0D-8AF0E2ED956C}"/>
              </a:ext>
            </a:extLst>
          </p:cNvPr>
          <p:cNvCxnSpPr>
            <a:cxnSpLocks/>
          </p:cNvCxnSpPr>
          <p:nvPr/>
        </p:nvCxnSpPr>
        <p:spPr>
          <a:xfrm>
            <a:off x="290051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2610C6-606B-C794-D8AF-AAEF2374F95E}"/>
              </a:ext>
            </a:extLst>
          </p:cNvPr>
          <p:cNvCxnSpPr>
            <a:cxnSpLocks/>
          </p:cNvCxnSpPr>
          <p:nvPr/>
        </p:nvCxnSpPr>
        <p:spPr>
          <a:xfrm>
            <a:off x="417873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1339EC-C65E-133C-62C5-7E146F4BE093}"/>
              </a:ext>
            </a:extLst>
          </p:cNvPr>
          <p:cNvSpPr txBox="1"/>
          <p:nvPr/>
        </p:nvSpPr>
        <p:spPr>
          <a:xfrm>
            <a:off x="2300076" y="791188"/>
            <a:ext cx="3554697" cy="3617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Young active shoppers</a:t>
            </a:r>
            <a:endParaRPr lang="el-GR" sz="1500" b="1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0421A-1710-A6DE-0A98-7FA236F2E52A}"/>
              </a:ext>
            </a:extLst>
          </p:cNvPr>
          <p:cNvSpPr/>
          <p:nvPr/>
        </p:nvSpPr>
        <p:spPr>
          <a:xfrm>
            <a:off x="2300076" y="791188"/>
            <a:ext cx="3554697" cy="3572367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4887D4-CA91-8CD0-6649-B6EB7B4DF765}"/>
              </a:ext>
            </a:extLst>
          </p:cNvPr>
          <p:cNvSpPr txBox="1"/>
          <p:nvPr/>
        </p:nvSpPr>
        <p:spPr>
          <a:xfrm>
            <a:off x="6297964" y="784609"/>
            <a:ext cx="3739190" cy="3617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Very Wealthy but inactive customers</a:t>
            </a:r>
            <a:endParaRPr lang="el-GR" sz="150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047D0D-2834-3789-BBBD-E696E5242314}"/>
              </a:ext>
            </a:extLst>
          </p:cNvPr>
          <p:cNvSpPr/>
          <p:nvPr/>
        </p:nvSpPr>
        <p:spPr>
          <a:xfrm>
            <a:off x="6297964" y="791188"/>
            <a:ext cx="3739190" cy="3572367"/>
          </a:xfrm>
          <a:prstGeom prst="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8F59DA-9B35-7EF8-0728-5801B43B3D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63" b="3449"/>
          <a:stretch>
            <a:fillRect/>
          </a:stretch>
        </p:blipFill>
        <p:spPr>
          <a:xfrm>
            <a:off x="2368900" y="1212691"/>
            <a:ext cx="3446651" cy="31081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30EAE3-2487-2191-B7A1-F52324C618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5"/>
          <a:stretch>
            <a:fillRect/>
          </a:stretch>
        </p:blipFill>
        <p:spPr>
          <a:xfrm>
            <a:off x="6366786" y="1169095"/>
            <a:ext cx="3633190" cy="3151753"/>
          </a:xfrm>
          <a:prstGeom prst="rect">
            <a:avLst/>
          </a:prstGeom>
        </p:spPr>
      </p:pic>
      <p:pic>
        <p:nvPicPr>
          <p:cNvPr id="20" name="Graphic 19" descr="Lightbulb and gear outline">
            <a:extLst>
              <a:ext uri="{FF2B5EF4-FFF2-40B4-BE49-F238E27FC236}">
                <a16:creationId xmlns:a16="http://schemas.microsoft.com/office/drawing/2014/main" id="{598B005A-271F-0051-8AF0-E08709EB25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1227" y="4351486"/>
            <a:ext cx="368941" cy="36894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E154BD5-75D5-D591-B94F-1BBC74F760ED}"/>
              </a:ext>
            </a:extLst>
          </p:cNvPr>
          <p:cNvSpPr txBox="1"/>
          <p:nvPr/>
        </p:nvSpPr>
        <p:spPr>
          <a:xfrm>
            <a:off x="231110" y="4253619"/>
            <a:ext cx="1855790" cy="564674"/>
          </a:xfrm>
          <a:prstGeom prst="rect">
            <a:avLst/>
          </a:prstGeom>
          <a:noFill/>
          <a:ln>
            <a:noFill/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Insights</a:t>
            </a:r>
            <a:endParaRPr lang="el-G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C27E04D-FC75-7FF4-4B4C-B9626F2D6F45}"/>
              </a:ext>
            </a:extLst>
          </p:cNvPr>
          <p:cNvCxnSpPr/>
          <p:nvPr/>
        </p:nvCxnSpPr>
        <p:spPr>
          <a:xfrm>
            <a:off x="88492" y="4752497"/>
            <a:ext cx="1210350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1BA1F47-1AF3-8E39-AE77-2AB2A90258E8}"/>
              </a:ext>
            </a:extLst>
          </p:cNvPr>
          <p:cNvSpPr txBox="1"/>
          <p:nvPr/>
        </p:nvSpPr>
        <p:spPr>
          <a:xfrm>
            <a:off x="2129951" y="4701126"/>
            <a:ext cx="2727709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Characteristics</a:t>
            </a:r>
            <a:r>
              <a:rPr lang="en-US" sz="15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  <a:br>
              <a:rPr lang="en-US" sz="15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 Age: 32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Annual  Income: 39k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Spending Score: 52</a:t>
            </a:r>
            <a:endParaRPr lang="el-G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192454-7E48-B594-7034-04BEDBF2A0B5}"/>
              </a:ext>
            </a:extLst>
          </p:cNvPr>
          <p:cNvSpPr txBox="1"/>
          <p:nvPr/>
        </p:nvSpPr>
        <p:spPr>
          <a:xfrm>
            <a:off x="2197310" y="5716789"/>
            <a:ext cx="24916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Marketing strategy: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•    Membership programs  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•    Bundles  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•    Frequent buyer rewards</a:t>
            </a:r>
            <a:endParaRPr lang="el-G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E3AFDE-96B2-C2B2-387F-B095198E9EEE}"/>
              </a:ext>
            </a:extLst>
          </p:cNvPr>
          <p:cNvSpPr txBox="1"/>
          <p:nvPr/>
        </p:nvSpPr>
        <p:spPr>
          <a:xfrm>
            <a:off x="6255427" y="4721122"/>
            <a:ext cx="27277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Characteristics: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 Age:67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Annual  Income: 106k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   •   Mean Spending Score: 1</a:t>
            </a:r>
            <a:endParaRPr lang="el-G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7D22B9-DFCA-F4EF-7D12-CA2D4A65C0D9}"/>
              </a:ext>
            </a:extLst>
          </p:cNvPr>
          <p:cNvSpPr txBox="1"/>
          <p:nvPr/>
        </p:nvSpPr>
        <p:spPr>
          <a:xfrm>
            <a:off x="6322786" y="5736785"/>
            <a:ext cx="28424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Marketing strategy:</a:t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fr-FR" sz="1400" dirty="0">
                <a:solidFill>
                  <a:schemeClr val="accent1">
                    <a:lumMod val="50000"/>
                  </a:schemeClr>
                </a:solidFill>
              </a:rPr>
              <a:t> •    </a:t>
            </a:r>
            <a:r>
              <a:rPr lang="fr-FR" sz="1400" dirty="0" err="1">
                <a:solidFill>
                  <a:schemeClr val="accent1">
                    <a:lumMod val="50000"/>
                  </a:schemeClr>
                </a:solidFill>
              </a:rPr>
              <a:t>Luxury</a:t>
            </a:r>
            <a:r>
              <a:rPr lang="fr-FR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400" dirty="0" err="1">
                <a:solidFill>
                  <a:schemeClr val="accent1">
                    <a:lumMod val="50000"/>
                  </a:schemeClr>
                </a:solidFill>
              </a:rPr>
              <a:t>experiences</a:t>
            </a:r>
            <a:r>
              <a:rPr lang="fr-FR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r>
              <a:rPr lang="fr-FR" sz="1400" dirty="0">
                <a:solidFill>
                  <a:schemeClr val="accent1">
                    <a:lumMod val="50000"/>
                  </a:schemeClr>
                </a:solidFill>
              </a:rPr>
              <a:t> •    </a:t>
            </a:r>
            <a:r>
              <a:rPr lang="fr-FR" sz="1400" dirty="0" err="1">
                <a:solidFill>
                  <a:schemeClr val="accent1">
                    <a:lumMod val="50000"/>
                  </a:schemeClr>
                </a:solidFill>
              </a:rPr>
              <a:t>Personalized</a:t>
            </a:r>
            <a:r>
              <a:rPr lang="fr-FR" sz="1400" dirty="0">
                <a:solidFill>
                  <a:schemeClr val="accent1">
                    <a:lumMod val="50000"/>
                  </a:schemeClr>
                </a:solidFill>
              </a:rPr>
              <a:t> premium services   </a:t>
            </a:r>
          </a:p>
          <a:p>
            <a:r>
              <a:rPr lang="fr-FR" sz="1400" dirty="0">
                <a:solidFill>
                  <a:schemeClr val="accent1">
                    <a:lumMod val="50000"/>
                  </a:schemeClr>
                </a:solidFill>
              </a:rPr>
              <a:t> •    Exclusive VIP </a:t>
            </a:r>
            <a:r>
              <a:rPr lang="fr-FR" sz="1400" dirty="0" err="1">
                <a:solidFill>
                  <a:schemeClr val="accent1">
                    <a:lumMod val="50000"/>
                  </a:schemeClr>
                </a:solidFill>
              </a:rPr>
              <a:t>events</a:t>
            </a:r>
            <a:endParaRPr lang="el-G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672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9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6DB6F-5A78-4D04-B0C2-B17A7A562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392A4AAB-3EB8-8E67-0CAB-DDF55373874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1DE297-BEA3-C5D0-CF5D-5D4FEA0AFE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8B2AC973-7905-0D95-A59B-23BF29B05146}"/>
              </a:ext>
            </a:extLst>
          </p:cNvPr>
          <p:cNvSpPr/>
          <p:nvPr/>
        </p:nvSpPr>
        <p:spPr>
          <a:xfrm>
            <a:off x="5841053" y="6494205"/>
            <a:ext cx="3450105" cy="361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032F94-7DF1-B7FB-377A-1B662223EEB1}"/>
              </a:ext>
            </a:extLst>
          </p:cNvPr>
          <p:cNvSpPr/>
          <p:nvPr/>
        </p:nvSpPr>
        <p:spPr>
          <a:xfrm>
            <a:off x="9291158" y="6504036"/>
            <a:ext cx="2900842" cy="3617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B9ABE9-D02B-6C22-4966-8BF721202E31}"/>
              </a:ext>
            </a:extLst>
          </p:cNvPr>
          <p:cNvSpPr txBox="1"/>
          <p:nvPr/>
        </p:nvSpPr>
        <p:spPr>
          <a:xfrm>
            <a:off x="2028649" y="2844956"/>
            <a:ext cx="593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Thank You!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50000"/>
                  <a:lumOff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D1AF9C-FB80-18C3-1CC3-CAF09CBB63B7}"/>
              </a:ext>
            </a:extLst>
          </p:cNvPr>
          <p:cNvCxnSpPr>
            <a:cxnSpLocks/>
          </p:cNvCxnSpPr>
          <p:nvPr/>
        </p:nvCxnSpPr>
        <p:spPr>
          <a:xfrm>
            <a:off x="717755" y="0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8D79A6-BBE0-C6A3-B51E-0EE44B388FA2}"/>
              </a:ext>
            </a:extLst>
          </p:cNvPr>
          <p:cNvCxnSpPr>
            <a:cxnSpLocks/>
          </p:cNvCxnSpPr>
          <p:nvPr/>
        </p:nvCxnSpPr>
        <p:spPr>
          <a:xfrm>
            <a:off x="850491" y="-1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6ADCA6-3104-489A-AC0D-727CD46C86F7}"/>
              </a:ext>
            </a:extLst>
          </p:cNvPr>
          <p:cNvCxnSpPr>
            <a:cxnSpLocks/>
          </p:cNvCxnSpPr>
          <p:nvPr/>
        </p:nvCxnSpPr>
        <p:spPr>
          <a:xfrm>
            <a:off x="997974" y="-2"/>
            <a:ext cx="0" cy="11208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C5A79F6-56CC-CAEB-7B4A-7DB7140BD0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9" t="267" r="11037" b="566"/>
          <a:stretch>
            <a:fillRect/>
          </a:stretch>
        </p:blipFill>
        <p:spPr>
          <a:xfrm>
            <a:off x="5842395" y="1435508"/>
            <a:ext cx="5920697" cy="33421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907496-B67A-4124-6D26-8CFE91518548}"/>
              </a:ext>
            </a:extLst>
          </p:cNvPr>
          <p:cNvSpPr/>
          <p:nvPr/>
        </p:nvSpPr>
        <p:spPr>
          <a:xfrm>
            <a:off x="5813923" y="0"/>
            <a:ext cx="3450105" cy="361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9F5D5F-1643-C871-841C-EEF19446F780}"/>
              </a:ext>
            </a:extLst>
          </p:cNvPr>
          <p:cNvSpPr/>
          <p:nvPr/>
        </p:nvSpPr>
        <p:spPr>
          <a:xfrm>
            <a:off x="9264028" y="0"/>
            <a:ext cx="2927972" cy="3617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CA2856-B3E1-1754-82FB-557E008F5B68}"/>
              </a:ext>
            </a:extLst>
          </p:cNvPr>
          <p:cNvCxnSpPr>
            <a:cxnSpLocks/>
          </p:cNvCxnSpPr>
          <p:nvPr/>
        </p:nvCxnSpPr>
        <p:spPr>
          <a:xfrm>
            <a:off x="11970772" y="361760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B1F79B-7110-5526-8D9B-B7EE8E7B946A}"/>
              </a:ext>
            </a:extLst>
          </p:cNvPr>
          <p:cNvCxnSpPr>
            <a:cxnSpLocks/>
          </p:cNvCxnSpPr>
          <p:nvPr/>
        </p:nvCxnSpPr>
        <p:spPr>
          <a:xfrm>
            <a:off x="12103508" y="361759"/>
            <a:ext cx="0" cy="6132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4856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405</Words>
  <Application>Microsoft Office PowerPoint</Application>
  <PresentationFormat>Widescreen</PresentationFormat>
  <Paragraphs>85</Paragraphs>
  <Slides>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Aggeliki Triantafyllou</dc:creator>
  <cp:lastModifiedBy>Aggeliki Triantafyllou</cp:lastModifiedBy>
  <cp:revision>15</cp:revision>
  <dcterms:created xsi:type="dcterms:W3CDTF">2026-03-07T10:07:33Z</dcterms:created>
  <dcterms:modified xsi:type="dcterms:W3CDTF">2026-03-07T12:58:45Z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cc3e47-7f2f-42e0-be7c-4ac16c3a9085_Enabled">
    <vt:lpwstr>true</vt:lpwstr>
  </property>
  <property fmtid="{D5CDD505-2E9C-101B-9397-08002B2CF9AE}" pid="3" name="MSIP_Label_68cc3e47-7f2f-42e0-be7c-4ac16c3a9085_SetDate">
    <vt:lpwstr>2026-03-07T10:30:33Z</vt:lpwstr>
  </property>
  <property fmtid="{D5CDD505-2E9C-101B-9397-08002B2CF9AE}" pid="4" name="MSIP_Label_68cc3e47-7f2f-42e0-be7c-4ac16c3a9085_Method">
    <vt:lpwstr>Standard</vt:lpwstr>
  </property>
  <property fmtid="{D5CDD505-2E9C-101B-9397-08002B2CF9AE}" pid="5" name="MSIP_Label_68cc3e47-7f2f-42e0-be7c-4ac16c3a9085_Name">
    <vt:lpwstr>Internal</vt:lpwstr>
  </property>
  <property fmtid="{D5CDD505-2E9C-101B-9397-08002B2CF9AE}" pid="6" name="MSIP_Label_68cc3e47-7f2f-42e0-be7c-4ac16c3a9085_SiteId">
    <vt:lpwstr>c99a6eaf-0642-4203-bbc7-4e7ff2354318</vt:lpwstr>
  </property>
  <property fmtid="{D5CDD505-2E9C-101B-9397-08002B2CF9AE}" pid="7" name="MSIP_Label_68cc3e47-7f2f-42e0-be7c-4ac16c3a9085_ActionId">
    <vt:lpwstr>baa51328-615f-438f-8bfd-a970652c2cea</vt:lpwstr>
  </property>
  <property fmtid="{D5CDD505-2E9C-101B-9397-08002B2CF9AE}" pid="8" name="MSIP_Label_68cc3e47-7f2f-42e0-be7c-4ac16c3a9085_ContentBits">
    <vt:lpwstr>0</vt:lpwstr>
  </property>
  <property fmtid="{D5CDD505-2E9C-101B-9397-08002B2CF9AE}" pid="9" name="MSIP_Label_68cc3e47-7f2f-42e0-be7c-4ac16c3a9085_Tag">
    <vt:lpwstr>10, 3, 0, 1</vt:lpwstr>
  </property>
</Properties>
</file>
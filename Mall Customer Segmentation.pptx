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notesSlides/notesSlide4.xml" ContentType="application/vnd.openxmlformats-officedocument.presentationml.notesSlide+xml"/>
  <Override PartName="/ppt/tags/tag6.xml" ContentType="application/vnd.openxmlformats-officedocument.presentationml.tags+xml"/>
  <Override PartName="/ppt/notesSlides/notesSlide5.xml" ContentType="application/vnd.openxmlformats-officedocument.presentationml.notesSlide+xml"/>
  <Override PartName="/ppt/tags/tag7.xml" ContentType="application/vnd.openxmlformats-officedocument.presentationml.tags+xml"/>
  <Override PartName="/ppt/notesSlides/notesSlide6.xml" ContentType="application/vnd.openxmlformats-officedocument.presentationml.notesSlide+xml"/>
  <Override PartName="/ppt/tags/tag8.xml" ContentType="application/vnd.openxmlformats-officedocument.presentationml.tags+xml"/>
  <Override PartName="/ppt/notesSlides/notesSlide7.xml" ContentType="application/vnd.openxmlformats-officedocument.presentationml.notesSlide+xml"/>
  <Override PartName="/ppt/tags/tag9.xml" ContentType="application/vnd.openxmlformats-officedocument.presentationml.tags+xml"/>
  <Override PartName="/ppt/notesSlides/notesSlide8.xml" ContentType="application/vnd.openxmlformats-officedocument.presentationml.notesSlide+xml"/>
  <Override PartName="/ppt/tags/tag10.xml" ContentType="application/vnd.openxmlformats-officedocument.presentationml.tags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8" r:id="rId2"/>
    <p:sldId id="259" r:id="rId3"/>
    <p:sldId id="266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l-G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619A"/>
    <a:srgbClr val="93DAF7"/>
    <a:srgbClr val="E7F0F9"/>
    <a:srgbClr val="22979A"/>
    <a:srgbClr val="00194C"/>
    <a:srgbClr val="8A6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7064" autoAdjust="0"/>
    <p:restoredTop sz="95033" autoAdjust="0"/>
  </p:normalViewPr>
  <p:slideViewPr>
    <p:cSldViewPr snapToGrid="0">
      <p:cViewPr>
        <p:scale>
          <a:sx n="69" d="100"/>
          <a:sy n="69" d="100"/>
        </p:scale>
        <p:origin x="-112" y="2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66BCD1-4FD2-42C8-8825-83F65CF86F2B}" type="datetimeFigureOut">
              <a:rPr lang="el-GR" smtClean="0"/>
              <a:t>7/3/26</a:t>
            </a:fld>
            <a:endParaRPr lang="el-G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l-G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A3BB02-E798-4640-8DCD-CE97D4728D80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1580156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A3BB02-E798-4640-8DCD-CE97D4728D80}" type="slidenum">
              <a:rPr lang="el-GR" smtClean="0"/>
              <a:t>1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8594607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74CE6-5B2D-8318-5559-A82AF3443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8B37B9-4B88-FCA0-B064-A493AC1C51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59C20E-46E9-21AC-AFF8-BEFEEB9AE4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451883-6212-7295-6022-7ECDAB6278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A3BB02-E798-4640-8DCD-CE97D4728D80}" type="slidenum">
              <a:rPr lang="el-GR" smtClean="0"/>
              <a:t>2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2024346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E2804-82FC-B4DD-BC32-6F1C330DB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314D8B-FC3A-4913-4CF8-682127C406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DAABDC-078D-3CB5-42F1-0C8D248EAC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81DF78-0106-A4BE-867D-D31DE4C848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A3BB02-E798-4640-8DCD-CE97D4728D80}" type="slidenum">
              <a:rPr lang="el-GR" smtClean="0"/>
              <a:t>3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4605608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DF17F-C59C-2038-0967-BAE426D0A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6C564E-2F7C-15C3-9EA5-830755E518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3DB3BE-2452-5A1A-7242-02A4DA66C3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42D0A0-B648-7F5E-E4BB-4E0A3DBB7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A3BB02-E798-4640-8DCD-CE97D4728D80}" type="slidenum">
              <a:rPr lang="el-GR" smtClean="0"/>
              <a:t>4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7432058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831B8-41A8-A3B4-4393-9124D80A4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C4577D-B7AB-3FBB-5B84-B032B49D67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9FEBA7-22B8-DDA8-5B9C-F18780CB1E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5DFA2-6B2C-88B1-D29E-6C0FEF562B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A3BB02-E798-4640-8DCD-CE97D4728D80}" type="slidenum">
              <a:rPr lang="el-GR" smtClean="0"/>
              <a:t>5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300886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61208-12C0-E645-E491-7141E1454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7F09C0-CE8A-6123-3536-6B0837B350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B63106-46FB-20A0-4836-59C7C1ECFF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DB9D19-9080-FCE9-693D-BFF44AADE3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A3BB02-E798-4640-8DCD-CE97D4728D80}" type="slidenum">
              <a:rPr lang="el-GR" smtClean="0"/>
              <a:t>6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11862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EAA0B-4A4E-1B12-C0E9-244EE4359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7061FE-6B8D-F87D-FCE5-09EC8505DB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C9EB0F-E300-5BE5-F704-430798C30E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8FDA56-3EAC-4C2C-4C8B-F6FCD7906B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A3BB02-E798-4640-8DCD-CE97D4728D80}" type="slidenum">
              <a:rPr lang="el-GR" smtClean="0"/>
              <a:t>7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9485015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88443-DA3B-6101-A273-558F38AF0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D54E75-EA46-952C-2AA7-9CCDBC85D5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CF3536-931B-0C1B-A11D-08C445E67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0A06A2-039D-1C4A-1C44-387E0E1E75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A3BB02-E798-4640-8DCD-CE97D4728D80}" type="slidenum">
              <a:rPr lang="el-GR" smtClean="0"/>
              <a:t>8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591068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F98FA-25FB-84A2-930C-C1131AA04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6F37F0-67B3-B94C-DD70-BC0CC5315D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3934D2-C1A0-DCBA-7031-605B486F5A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71BE5B-21CC-CB6A-C5DE-DE99EC057F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A3BB02-E798-4640-8DCD-CE97D4728D80}" type="slidenum">
              <a:rPr kumimoji="0" lang="el-G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l-G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7097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EE9F4-CB28-4131-DA57-18634268B0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D0339E-9E04-EAB1-6297-2EC0BE7506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8F2AAC-F9E3-EA17-D4C0-771CD6061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F451F-F832-44B4-95D5-E35B2EB949AA}" type="datetimeFigureOut">
              <a:rPr lang="el-GR" smtClean="0"/>
              <a:t>7/3/26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E130BE-E2B4-71AD-A1D5-86D8A2962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2D0BD6-2EAA-5C62-022A-95B1DDF02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A45C1-4A82-4169-B973-5D5CA22BA87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0320274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B2529-A297-148F-3F9C-913137B0E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CAEDD5-B3D0-A96A-7897-77E815D6E2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745893-95FE-77A8-0BC7-D74AB1D8F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F451F-F832-44B4-95D5-E35B2EB949AA}" type="datetimeFigureOut">
              <a:rPr lang="el-GR" smtClean="0"/>
              <a:t>7/3/26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BDE541-27ED-E3F1-ED65-D77814A34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D56001-68A6-7641-329A-443B8E498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A45C1-4A82-4169-B973-5D5CA22BA87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9874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B9F53-7C11-EEB2-858B-A13B81BED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71C6BC-CB6E-4BB2-CA0A-D5993D5FA5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4E78F0-9C95-BF76-0D8D-DC1F57CAC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F451F-F832-44B4-95D5-E35B2EB949AA}" type="datetimeFigureOut">
              <a:rPr lang="el-GR" smtClean="0"/>
              <a:t>7/3/26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88D16A-8C4B-3F81-C35C-426A5437C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D6A468-91C7-728D-AFE2-04660CFD9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A45C1-4A82-4169-B973-5D5CA22BA87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459401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29E15-DB99-FDB8-807C-5F87A8C3F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7B413B-5FCF-ED5F-1701-43D0CB9D8A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D813F4-AA43-391B-9A0A-E9DB9806D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5C7721-B265-D063-4BB8-E681BF685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F451F-F832-44B4-95D5-E35B2EB949AA}" type="datetimeFigureOut">
              <a:rPr lang="el-GR" smtClean="0"/>
              <a:t>7/3/26</a:t>
            </a:fld>
            <a:endParaRPr lang="el-G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84008E-542F-B8E8-A8DD-FACC0B74A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098430-DBE5-90B4-63AE-59E89AAB9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A45C1-4A82-4169-B973-5D5CA22BA87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597825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123D4-D9F2-23EC-83D0-1BF1051BE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AF6FE3-68CB-9462-8A43-F510D1B057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8F4B8F-2E06-5C67-A26F-D7667E40E0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CB092F-C85A-9190-49A0-2AF98584D4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DB6571-06F6-B67B-EFBB-497F2B665A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CF472D-0258-FEBD-B466-B84ADBC76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F451F-F832-44B4-95D5-E35B2EB949AA}" type="datetimeFigureOut">
              <a:rPr lang="el-GR" smtClean="0"/>
              <a:t>7/3/26</a:t>
            </a:fld>
            <a:endParaRPr lang="el-G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CD9041-C020-1DFF-BC36-FE3E21F34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0EDDFD-CFEE-10A7-74D9-A6F67F92A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A45C1-4A82-4169-B973-5D5CA22BA87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5401617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C82F9-1D05-CDAE-6E68-205D5DD3A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07BFD5-44BF-05A3-94FA-28089AD34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F451F-F832-44B4-95D5-E35B2EB949AA}" type="datetimeFigureOut">
              <a:rPr lang="el-GR" smtClean="0"/>
              <a:t>7/3/26</a:t>
            </a:fld>
            <a:endParaRPr lang="el-G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4E5E67-EBA0-A974-D344-0459CFD97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B2D31C-3B93-4046-3C9D-094F73A8A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A45C1-4A82-4169-B973-5D5CA22BA87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879588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E1E2D0-9411-71AD-349A-24E9C4C41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F451F-F832-44B4-95D5-E35B2EB949AA}" type="datetimeFigureOut">
              <a:rPr lang="el-GR" smtClean="0"/>
              <a:t>7/3/26</a:t>
            </a:fld>
            <a:endParaRPr lang="el-G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EB15CC-8343-1E84-738B-75106EF9C1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A0B91C-243D-FA8B-3354-078B3D549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A45C1-4A82-4169-B973-5D5CA22BA87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9299545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B121C-10DF-B07A-76EC-4FDC62384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E83C6F-4F55-17E0-51D9-0ED77BC0B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2D57DD-896B-B278-B935-5772E84551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81461F-1E6D-C9EA-EBC7-58E042B20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F451F-F832-44B4-95D5-E35B2EB949AA}" type="datetimeFigureOut">
              <a:rPr lang="el-GR" smtClean="0"/>
              <a:t>7/3/26</a:t>
            </a:fld>
            <a:endParaRPr lang="el-G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1C4FA3-8FCD-9D6D-7F65-3CB492C72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916F3C-33BE-1268-2977-9D1683795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A45C1-4A82-4169-B973-5D5CA22BA87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200324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5DE61-CDB3-FD71-8E9A-B1E0518DA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1F8506-1900-8D18-767D-5F00586001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l-G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D30617-7FED-DF7A-8D5C-57E06C0958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E652E2-6054-360F-38E6-49CF01736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F451F-F832-44B4-95D5-E35B2EB949AA}" type="datetimeFigureOut">
              <a:rPr lang="el-GR" smtClean="0"/>
              <a:t>7/3/26</a:t>
            </a:fld>
            <a:endParaRPr lang="el-G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A1F961-B0B3-5909-407C-25D8667CF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C848F1-D8A1-5EDB-A10B-F4D980743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A45C1-4A82-4169-B973-5D5CA22BA87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3624683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D3F3C-5313-3193-8327-0C1619AB5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CD86E8-FCF8-77D7-BDDD-D893EF1793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1EE42-367C-FCA5-3E2D-2AB20A7A9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F451F-F832-44B4-95D5-E35B2EB949AA}" type="datetimeFigureOut">
              <a:rPr lang="el-GR" smtClean="0"/>
              <a:t>7/3/26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78B62F-639F-CFF9-0143-9C304DC13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5A150F-7889-FC51-5558-62499A128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A45C1-4A82-4169-B973-5D5CA22BA87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5971958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4E996A-CF52-CA13-AA12-38E45D7956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9C8ACA-53F2-3604-1CC1-1AD5BA0F00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54FE4F-E0D7-B7B6-77A4-1DA346BB5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F451F-F832-44B4-95D5-E35B2EB949AA}" type="datetimeFigureOut">
              <a:rPr lang="el-GR" smtClean="0"/>
              <a:t>7/3/26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BC5E3F-AEE3-3DE0-688E-36190019D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13E41B-CF78-41D5-0223-3D4784D59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A45C1-4A82-4169-B973-5D5CA22BA87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332626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349F4DEA-C1CA-8CD4-C950-CDD5A04BE86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10444248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4" imgW="425" imgH="424" progId="TCLayout.ActiveDocument.1">
                  <p:embed/>
                </p:oleObj>
              </mc:Choice>
              <mc:Fallback>
                <p:oleObj name="think-cell Slide" r:id="rId14" imgW="425" imgH="42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0540FD5-A115-2D90-16FE-938AC5A69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FC7E23-3A5E-69D4-7587-9A7CBED765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7D98B3-915C-1AC2-E7EA-D1265F0F3F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5F451F-F832-44B4-95D5-E35B2EB949AA}" type="datetimeFigureOut">
              <a:rPr lang="el-GR" smtClean="0"/>
              <a:t>7/3/26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F3A4B7-E431-7E24-94A0-871E5780DB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09AC0-E9C6-E359-95A1-9CA926A8B4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9A45C1-4A82-4169-B973-5D5CA22BA87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186268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l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Relationship Id="rId6" Type="http://schemas.openxmlformats.org/officeDocument/2006/relationships/image" Target="../media/image2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13" Type="http://schemas.openxmlformats.org/officeDocument/2006/relationships/image" Target="../media/image10.png"/><Relationship Id="rId3" Type="http://schemas.openxmlformats.org/officeDocument/2006/relationships/notesSlide" Target="../notesSlides/notesSlide2.xml"/><Relationship Id="rId7" Type="http://schemas.openxmlformats.org/officeDocument/2006/relationships/image" Target="../media/image4.png"/><Relationship Id="rId12" Type="http://schemas.openxmlformats.org/officeDocument/2006/relationships/image" Target="../media/image9.sv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1.emf"/><Relationship Id="rId10" Type="http://schemas.openxmlformats.org/officeDocument/2006/relationships/image" Target="../media/image7.svg"/><Relationship Id="rId4" Type="http://schemas.openxmlformats.org/officeDocument/2006/relationships/oleObject" Target="../embeddings/oleObject3.bin"/><Relationship Id="rId9" Type="http://schemas.openxmlformats.org/officeDocument/2006/relationships/image" Target="../media/image6.png"/><Relationship Id="rId14" Type="http://schemas.openxmlformats.org/officeDocument/2006/relationships/image" Target="../media/image11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sv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13.svg"/><Relationship Id="rId12" Type="http://schemas.openxmlformats.org/officeDocument/2006/relationships/image" Target="../media/image18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Relationship Id="rId6" Type="http://schemas.openxmlformats.org/officeDocument/2006/relationships/image" Target="../media/image12.png"/><Relationship Id="rId11" Type="http://schemas.openxmlformats.org/officeDocument/2006/relationships/image" Target="../media/image17.svg"/><Relationship Id="rId5" Type="http://schemas.openxmlformats.org/officeDocument/2006/relationships/image" Target="../media/image1.emf"/><Relationship Id="rId10" Type="http://schemas.openxmlformats.org/officeDocument/2006/relationships/image" Target="../media/image16.png"/><Relationship Id="rId4" Type="http://schemas.openxmlformats.org/officeDocument/2006/relationships/oleObject" Target="../embeddings/oleObject4.bin"/><Relationship Id="rId9" Type="http://schemas.openxmlformats.org/officeDocument/2006/relationships/image" Target="../media/image15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notesSlide" Target="../notesSlides/notesSlide4.xml"/><Relationship Id="rId7" Type="http://schemas.openxmlformats.org/officeDocument/2006/relationships/image" Target="../media/image2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.xml"/><Relationship Id="rId6" Type="http://schemas.openxmlformats.org/officeDocument/2006/relationships/image" Target="../media/image20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Relationship Id="rId9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.xml"/><Relationship Id="rId6" Type="http://schemas.openxmlformats.org/officeDocument/2006/relationships/image" Target="../media/image24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5.bin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.xml"/><Relationship Id="rId6" Type="http://schemas.openxmlformats.org/officeDocument/2006/relationships/image" Target="../media/image25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notesSlide" Target="../notesSlides/notesSlide7.xml"/><Relationship Id="rId7" Type="http://schemas.openxmlformats.org/officeDocument/2006/relationships/image" Target="../media/image27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8.xml"/><Relationship Id="rId6" Type="http://schemas.openxmlformats.org/officeDocument/2006/relationships/image" Target="../media/image26.png"/><Relationship Id="rId5" Type="http://schemas.openxmlformats.org/officeDocument/2006/relationships/image" Target="../media/image1.emf"/><Relationship Id="rId10" Type="http://schemas.openxmlformats.org/officeDocument/2006/relationships/image" Target="../media/image30.png"/><Relationship Id="rId4" Type="http://schemas.openxmlformats.org/officeDocument/2006/relationships/oleObject" Target="../embeddings/oleObject6.bin"/><Relationship Id="rId9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notesSlide" Target="../notesSlides/notesSlide8.xml"/><Relationship Id="rId7" Type="http://schemas.openxmlformats.org/officeDocument/2006/relationships/image" Target="../media/image32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9.xml"/><Relationship Id="rId6" Type="http://schemas.openxmlformats.org/officeDocument/2006/relationships/image" Target="../media/image31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Relationship Id="rId9" Type="http://schemas.openxmlformats.org/officeDocument/2006/relationships/image" Target="../media/image28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0.xml"/><Relationship Id="rId6" Type="http://schemas.openxmlformats.org/officeDocument/2006/relationships/image" Target="../media/image2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19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think-cell data - do not delete" hidden="1">
            <a:extLst>
              <a:ext uri="{FF2B5EF4-FFF2-40B4-BE49-F238E27FC236}">
                <a16:creationId xmlns:a16="http://schemas.microsoft.com/office/drawing/2014/main" id="{341DE297-BEA3-C5D0-CF5D-5D4FEA0AFE3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1997404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5" imgH="424" progId="TCLayout.ActiveDocument.1">
                  <p:embed/>
                </p:oleObj>
              </mc:Choice>
              <mc:Fallback>
                <p:oleObj name="think-cell Slide" r:id="rId4" imgW="425" imgH="42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0F82416C-1E46-CF1A-1C29-06C929EAC167}"/>
              </a:ext>
            </a:extLst>
          </p:cNvPr>
          <p:cNvSpPr/>
          <p:nvPr/>
        </p:nvSpPr>
        <p:spPr>
          <a:xfrm>
            <a:off x="5841053" y="6494205"/>
            <a:ext cx="3450105" cy="361759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DC97E2-FEE4-C528-BA1F-6CF511B5543A}"/>
              </a:ext>
            </a:extLst>
          </p:cNvPr>
          <p:cNvSpPr/>
          <p:nvPr/>
        </p:nvSpPr>
        <p:spPr>
          <a:xfrm>
            <a:off x="9291158" y="6504036"/>
            <a:ext cx="2900842" cy="36175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8779D9-AA40-747B-F199-2575FB6FB2AF}"/>
              </a:ext>
            </a:extLst>
          </p:cNvPr>
          <p:cNvSpPr txBox="1"/>
          <p:nvPr/>
        </p:nvSpPr>
        <p:spPr>
          <a:xfrm>
            <a:off x="157319" y="2202424"/>
            <a:ext cx="5938683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2800" b="1" dirty="0">
                <a:solidFill>
                  <a:schemeClr val="bg1"/>
                </a:solidFill>
              </a:rPr>
              <a:t>Customer</a:t>
            </a:r>
          </a:p>
          <a:p>
            <a:pPr>
              <a:buNone/>
            </a:pPr>
            <a:r>
              <a:rPr lang="en-US" sz="2800" b="1" dirty="0">
                <a:solidFill>
                  <a:schemeClr val="bg1"/>
                </a:solidFill>
              </a:rPr>
              <a:t>Segmentation Using</a:t>
            </a:r>
          </a:p>
          <a:p>
            <a:pPr>
              <a:buNone/>
            </a:pPr>
            <a:r>
              <a:rPr lang="en-US" sz="28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Unsupervised Machine Learning</a:t>
            </a:r>
            <a:endParaRPr lang="en-US" sz="28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153C4C4-0304-337C-FA72-6745538C6B2B}"/>
              </a:ext>
            </a:extLst>
          </p:cNvPr>
          <p:cNvCxnSpPr>
            <a:cxnSpLocks/>
          </p:cNvCxnSpPr>
          <p:nvPr/>
        </p:nvCxnSpPr>
        <p:spPr>
          <a:xfrm>
            <a:off x="717755" y="0"/>
            <a:ext cx="0" cy="11208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D186FC7-8319-1EA9-CD2A-263756B2DC37}"/>
              </a:ext>
            </a:extLst>
          </p:cNvPr>
          <p:cNvCxnSpPr>
            <a:cxnSpLocks/>
          </p:cNvCxnSpPr>
          <p:nvPr/>
        </p:nvCxnSpPr>
        <p:spPr>
          <a:xfrm>
            <a:off x="850491" y="-1"/>
            <a:ext cx="0" cy="11208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9E56E6-44AD-0102-0769-C191E89B42F3}"/>
              </a:ext>
            </a:extLst>
          </p:cNvPr>
          <p:cNvCxnSpPr>
            <a:cxnSpLocks/>
          </p:cNvCxnSpPr>
          <p:nvPr/>
        </p:nvCxnSpPr>
        <p:spPr>
          <a:xfrm>
            <a:off x="997974" y="-2"/>
            <a:ext cx="0" cy="11208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73D6E727-64FC-4E04-5790-16E3E1B618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59" t="267" r="11037" b="566"/>
          <a:stretch>
            <a:fillRect/>
          </a:stretch>
        </p:blipFill>
        <p:spPr>
          <a:xfrm>
            <a:off x="5842395" y="1435508"/>
            <a:ext cx="5920697" cy="334211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0E2AC5B-E8C3-11D6-2603-7BD2C9B15551}"/>
              </a:ext>
            </a:extLst>
          </p:cNvPr>
          <p:cNvSpPr/>
          <p:nvPr/>
        </p:nvSpPr>
        <p:spPr>
          <a:xfrm>
            <a:off x="5813923" y="0"/>
            <a:ext cx="3450105" cy="361759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FB84108-60B9-7E1D-9622-4E7357DC66F3}"/>
              </a:ext>
            </a:extLst>
          </p:cNvPr>
          <p:cNvSpPr/>
          <p:nvPr/>
        </p:nvSpPr>
        <p:spPr>
          <a:xfrm>
            <a:off x="9264028" y="0"/>
            <a:ext cx="2927972" cy="36175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53E964B-2399-22D6-F6D7-CC391B1086A7}"/>
              </a:ext>
            </a:extLst>
          </p:cNvPr>
          <p:cNvCxnSpPr>
            <a:cxnSpLocks/>
          </p:cNvCxnSpPr>
          <p:nvPr/>
        </p:nvCxnSpPr>
        <p:spPr>
          <a:xfrm>
            <a:off x="11970772" y="361760"/>
            <a:ext cx="0" cy="613244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9E312FF-05C3-762E-15B4-32AEFF0F84AA}"/>
              </a:ext>
            </a:extLst>
          </p:cNvPr>
          <p:cNvCxnSpPr>
            <a:cxnSpLocks/>
          </p:cNvCxnSpPr>
          <p:nvPr/>
        </p:nvCxnSpPr>
        <p:spPr>
          <a:xfrm>
            <a:off x="12103508" y="361759"/>
            <a:ext cx="0" cy="613244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6050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5686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34A76B-CB50-6DC3-11AD-6F937704B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think-cell data - do not delete" hidden="1">
            <a:extLst>
              <a:ext uri="{FF2B5EF4-FFF2-40B4-BE49-F238E27FC236}">
                <a16:creationId xmlns:a16="http://schemas.microsoft.com/office/drawing/2014/main" id="{B8B39B8E-3861-CE7D-09D0-31D6EF6C823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419926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5" imgH="424" progId="TCLayout.ActiveDocument.1">
                  <p:embed/>
                </p:oleObj>
              </mc:Choice>
              <mc:Fallback>
                <p:oleObj name="think-cell Slide" r:id="rId4" imgW="425" imgH="424" progId="TCLayout.ActiveDocument.1">
                  <p:embed/>
                  <p:pic>
                    <p:nvPicPr>
                      <p:cNvPr id="2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41DE297-BEA3-C5D0-CF5D-5D4FEA0AFE3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8" name="Picture 77">
            <a:extLst>
              <a:ext uri="{FF2B5EF4-FFF2-40B4-BE49-F238E27FC236}">
                <a16:creationId xmlns:a16="http://schemas.microsoft.com/office/drawing/2014/main" id="{A0F5889A-6033-1522-F249-F770AA3140F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7089" y="3008298"/>
            <a:ext cx="2324327" cy="1056576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1E851B66-F157-B85F-209E-C4FB6ACE3842}"/>
              </a:ext>
            </a:extLst>
          </p:cNvPr>
          <p:cNvSpPr txBox="1"/>
          <p:nvPr/>
        </p:nvSpPr>
        <p:spPr>
          <a:xfrm>
            <a:off x="88491" y="1358145"/>
            <a:ext cx="2673221" cy="4132592"/>
          </a:xfrm>
          <a:prstGeom prst="rect">
            <a:avLst/>
          </a:prstGeom>
          <a:noFill/>
          <a:ln>
            <a:noFill/>
          </a:ln>
        </p:spPr>
        <p:txBody>
          <a:bodyPr vert="horz" wrap="square" anchor="ctr" anchorCtr="0">
            <a:noAutofit/>
          </a:bodyPr>
          <a:lstStyle/>
          <a:p>
            <a:pPr algn="ctr"/>
            <a:r>
              <a:rPr lang="en-US" sz="2000" b="1" dirty="0">
                <a:solidFill>
                  <a:schemeClr val="accent1">
                    <a:lumMod val="75000"/>
                  </a:schemeClr>
                </a:solidFill>
              </a:rPr>
              <a:t>Team</a:t>
            </a:r>
          </a:p>
          <a:p>
            <a:pPr algn="ctr"/>
            <a:r>
              <a:rPr lang="en-US" sz="2000" b="1" dirty="0">
                <a:solidFill>
                  <a:schemeClr val="accent1">
                    <a:lumMod val="75000"/>
                  </a:schemeClr>
                </a:solidFill>
              </a:rPr>
              <a:t> Members</a:t>
            </a:r>
            <a:endParaRPr lang="el-GR" sz="2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C0C447B-498F-2CBB-449F-9437ACFAA7BC}"/>
              </a:ext>
            </a:extLst>
          </p:cNvPr>
          <p:cNvSpPr/>
          <p:nvPr/>
        </p:nvSpPr>
        <p:spPr>
          <a:xfrm>
            <a:off x="0" y="0"/>
            <a:ext cx="2320413" cy="93406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B00D76-8B3A-FA92-5C20-10E013BF9ADD}"/>
              </a:ext>
            </a:extLst>
          </p:cNvPr>
          <p:cNvSpPr txBox="1"/>
          <p:nvPr/>
        </p:nvSpPr>
        <p:spPr>
          <a:xfrm>
            <a:off x="0" y="273271"/>
            <a:ext cx="4198374" cy="361759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no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         Project Overview &amp; Dataset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76D3086-7A29-1346-6921-3C84F9C03FA0}"/>
              </a:ext>
            </a:extLst>
          </p:cNvPr>
          <p:cNvCxnSpPr>
            <a:cxnSpLocks/>
          </p:cNvCxnSpPr>
          <p:nvPr/>
        </p:nvCxnSpPr>
        <p:spPr>
          <a:xfrm>
            <a:off x="157316" y="0"/>
            <a:ext cx="0" cy="11208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8600BD9-2F0D-FD72-503E-BD0DFE843B9D}"/>
              </a:ext>
            </a:extLst>
          </p:cNvPr>
          <p:cNvCxnSpPr>
            <a:cxnSpLocks/>
          </p:cNvCxnSpPr>
          <p:nvPr/>
        </p:nvCxnSpPr>
        <p:spPr>
          <a:xfrm>
            <a:off x="11970772" y="361760"/>
            <a:ext cx="0" cy="613244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089E896-DCAE-2CE6-B88F-5CC668A679A9}"/>
              </a:ext>
            </a:extLst>
          </p:cNvPr>
          <p:cNvCxnSpPr>
            <a:cxnSpLocks/>
          </p:cNvCxnSpPr>
          <p:nvPr/>
        </p:nvCxnSpPr>
        <p:spPr>
          <a:xfrm>
            <a:off x="12103508" y="361759"/>
            <a:ext cx="0" cy="613244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A71F6B0-AEF9-A617-374D-D864E1BC1F10}"/>
              </a:ext>
            </a:extLst>
          </p:cNvPr>
          <p:cNvCxnSpPr>
            <a:cxnSpLocks/>
          </p:cNvCxnSpPr>
          <p:nvPr/>
        </p:nvCxnSpPr>
        <p:spPr>
          <a:xfrm>
            <a:off x="290051" y="0"/>
            <a:ext cx="0" cy="11208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7F358EB-A4FC-CCBE-5172-158ECC9F7D63}"/>
              </a:ext>
            </a:extLst>
          </p:cNvPr>
          <p:cNvCxnSpPr>
            <a:cxnSpLocks/>
          </p:cNvCxnSpPr>
          <p:nvPr/>
        </p:nvCxnSpPr>
        <p:spPr>
          <a:xfrm>
            <a:off x="417873" y="0"/>
            <a:ext cx="0" cy="11208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33E5CA6-8015-5E9E-6E1F-3E19C447E2FB}"/>
              </a:ext>
            </a:extLst>
          </p:cNvPr>
          <p:cNvSpPr txBox="1"/>
          <p:nvPr/>
        </p:nvSpPr>
        <p:spPr>
          <a:xfrm>
            <a:off x="2548727" y="2541074"/>
            <a:ext cx="2395043" cy="54569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anchor="ctr" anchorCtr="0">
            <a:no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   Vasia Galanopoulou</a:t>
            </a:r>
            <a:endParaRPr lang="el-GR" b="1" dirty="0">
              <a:solidFill>
                <a:schemeClr val="bg1"/>
              </a:solidFill>
            </a:endParaRPr>
          </a:p>
        </p:txBody>
      </p:sp>
      <p:pic>
        <p:nvPicPr>
          <p:cNvPr id="44" name="Graphic 43" descr="Group of women with solid fill">
            <a:extLst>
              <a:ext uri="{FF2B5EF4-FFF2-40B4-BE49-F238E27FC236}">
                <a16:creationId xmlns:a16="http://schemas.microsoft.com/office/drawing/2014/main" id="{2B45ADB4-B33A-1F52-1209-B7DB6E78D43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90051" y="3159692"/>
            <a:ext cx="395078" cy="395078"/>
          </a:xfrm>
          <a:prstGeom prst="rect">
            <a:avLst/>
          </a:prstGeom>
        </p:spPr>
      </p:pic>
      <p:pic>
        <p:nvPicPr>
          <p:cNvPr id="53" name="Graphic 52" descr="Female Profile outline">
            <a:extLst>
              <a:ext uri="{FF2B5EF4-FFF2-40B4-BE49-F238E27FC236}">
                <a16:creationId xmlns:a16="http://schemas.microsoft.com/office/drawing/2014/main" id="{FFF186E0-303B-8D15-EA04-4218AD3069A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583425" y="2541074"/>
            <a:ext cx="391274" cy="372657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6E3B644-68B7-2DF3-3964-BC6CA1A53880}"/>
              </a:ext>
            </a:extLst>
          </p:cNvPr>
          <p:cNvSpPr txBox="1"/>
          <p:nvPr/>
        </p:nvSpPr>
        <p:spPr>
          <a:xfrm>
            <a:off x="2548727" y="3322957"/>
            <a:ext cx="2395043" cy="54569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anchor="ctr" anchorCtr="0">
            <a:no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   Vasiliki </a:t>
            </a:r>
            <a:r>
              <a:rPr lang="en-US" b="1" dirty="0" err="1">
                <a:solidFill>
                  <a:schemeClr val="bg1"/>
                </a:solidFill>
              </a:rPr>
              <a:t>Nterkou</a:t>
            </a:r>
            <a:endParaRPr lang="el-GR" b="1" dirty="0">
              <a:solidFill>
                <a:schemeClr val="bg1"/>
              </a:solidFill>
            </a:endParaRPr>
          </a:p>
        </p:txBody>
      </p:sp>
      <p:pic>
        <p:nvPicPr>
          <p:cNvPr id="56" name="Graphic 55" descr="Female Profile outline">
            <a:extLst>
              <a:ext uri="{FF2B5EF4-FFF2-40B4-BE49-F238E27FC236}">
                <a16:creationId xmlns:a16="http://schemas.microsoft.com/office/drawing/2014/main" id="{2AF77994-FACC-6F49-B512-95CBCE6956E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583425" y="3391781"/>
            <a:ext cx="391274" cy="372657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154AA0F-B56D-2D37-F69C-E0B602C064C1}"/>
              </a:ext>
            </a:extLst>
          </p:cNvPr>
          <p:cNvSpPr txBox="1"/>
          <p:nvPr/>
        </p:nvSpPr>
        <p:spPr>
          <a:xfrm>
            <a:off x="2548727" y="4064873"/>
            <a:ext cx="2395043" cy="54569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anchor="ctr" anchorCtr="0">
            <a:no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   Angeliki Triantafyllou</a:t>
            </a:r>
            <a:endParaRPr lang="el-GR" b="1" dirty="0">
              <a:solidFill>
                <a:schemeClr val="bg1"/>
              </a:solidFill>
            </a:endParaRPr>
          </a:p>
        </p:txBody>
      </p:sp>
      <p:pic>
        <p:nvPicPr>
          <p:cNvPr id="58" name="Graphic 57" descr="Female Profile outline">
            <a:extLst>
              <a:ext uri="{FF2B5EF4-FFF2-40B4-BE49-F238E27FC236}">
                <a16:creationId xmlns:a16="http://schemas.microsoft.com/office/drawing/2014/main" id="{6DD8B4E6-2AA0-07B3-B1A4-13EE0DE5ACD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583425" y="4133697"/>
            <a:ext cx="391274" cy="372657"/>
          </a:xfrm>
          <a:prstGeom prst="rect">
            <a:avLst/>
          </a:prstGeom>
        </p:spPr>
      </p:pic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A399E976-2F45-EE52-0892-E8E7D3C2416B}"/>
              </a:ext>
            </a:extLst>
          </p:cNvPr>
          <p:cNvCxnSpPr>
            <a:cxnSpLocks/>
          </p:cNvCxnSpPr>
          <p:nvPr/>
        </p:nvCxnSpPr>
        <p:spPr>
          <a:xfrm>
            <a:off x="2241755" y="2226980"/>
            <a:ext cx="0" cy="2859625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6D8AAA1-AE4F-651B-B32C-DC19B53DB2EA}"/>
              </a:ext>
            </a:extLst>
          </p:cNvPr>
          <p:cNvCxnSpPr>
            <a:cxnSpLocks/>
          </p:cNvCxnSpPr>
          <p:nvPr/>
        </p:nvCxnSpPr>
        <p:spPr>
          <a:xfrm>
            <a:off x="8504902" y="2226980"/>
            <a:ext cx="0" cy="2859625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D7C5C9FF-96C5-E81D-2B17-B0C82E512A27}"/>
              </a:ext>
            </a:extLst>
          </p:cNvPr>
          <p:cNvSpPr txBox="1"/>
          <p:nvPr/>
        </p:nvSpPr>
        <p:spPr>
          <a:xfrm>
            <a:off x="7076661" y="3230875"/>
            <a:ext cx="1295505" cy="5335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anchor="ctr" anchorCtr="0">
            <a:noAutofit/>
          </a:bodyPr>
          <a:lstStyle/>
          <a:p>
            <a:pPr algn="ctr"/>
            <a:r>
              <a:rPr lang="en-US" sz="2000" b="1" dirty="0">
                <a:solidFill>
                  <a:schemeClr val="accent1">
                    <a:lumMod val="75000"/>
                  </a:schemeClr>
                </a:solidFill>
              </a:rPr>
              <a:t>Dataset Info </a:t>
            </a:r>
            <a:endParaRPr lang="el-GR" sz="2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5" name="Graphic 74" descr="Database outline">
            <a:extLst>
              <a:ext uri="{FF2B5EF4-FFF2-40B4-BE49-F238E27FC236}">
                <a16:creationId xmlns:a16="http://schemas.microsoft.com/office/drawing/2014/main" id="{4BBB6321-1B80-A652-B11E-8E15D175D0A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999898" y="3454607"/>
            <a:ext cx="309831" cy="309831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7F1703B2-998B-66D6-77DB-A05F8D6FA0A0}"/>
              </a:ext>
            </a:extLst>
          </p:cNvPr>
          <p:cNvSpPr txBox="1"/>
          <p:nvPr/>
        </p:nvSpPr>
        <p:spPr>
          <a:xfrm>
            <a:off x="8637638" y="2226980"/>
            <a:ext cx="3179641" cy="2859625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 wrap="square" rtlCol="0">
            <a:noAutofit/>
          </a:bodyPr>
          <a:lstStyle/>
          <a:p>
            <a:endParaRPr lang="en-US" sz="1700" dirty="0">
              <a:solidFill>
                <a:schemeClr val="bg1"/>
              </a:solidFill>
            </a:endParaRPr>
          </a:p>
          <a:p>
            <a:endParaRPr lang="en-US" sz="1700" dirty="0">
              <a:solidFill>
                <a:schemeClr val="bg1"/>
              </a:solidFill>
            </a:endParaRPr>
          </a:p>
          <a:p>
            <a:r>
              <a:rPr lang="en-US" sz="1700" dirty="0">
                <a:solidFill>
                  <a:schemeClr val="bg1"/>
                </a:solidFill>
              </a:rPr>
              <a:t>Dataset: Mall Customer Segmentation</a:t>
            </a:r>
            <a:r>
              <a:rPr lang="en-US" sz="1500" dirty="0">
                <a:solidFill>
                  <a:schemeClr val="bg1"/>
                </a:solidFill>
              </a:rPr>
              <a:t>(Kaggle)</a:t>
            </a:r>
          </a:p>
          <a:p>
            <a:endParaRPr lang="en-US" sz="1500" dirty="0">
              <a:solidFill>
                <a:schemeClr val="bg1"/>
              </a:solidFill>
            </a:endParaRPr>
          </a:p>
          <a:p>
            <a:r>
              <a:rPr lang="en-US" sz="1500" dirty="0">
                <a:solidFill>
                  <a:schemeClr val="bg1"/>
                </a:solidFill>
              </a:rPr>
              <a:t>Samples:1000</a:t>
            </a:r>
          </a:p>
          <a:p>
            <a:endParaRPr lang="en-US" sz="1500" dirty="0">
              <a:solidFill>
                <a:schemeClr val="bg1"/>
              </a:solidFill>
            </a:endParaRPr>
          </a:p>
          <a:p>
            <a:r>
              <a:rPr lang="en-US" sz="1500" dirty="0">
                <a:solidFill>
                  <a:schemeClr val="bg1"/>
                </a:solidFill>
              </a:rPr>
              <a:t>Target : Client Clustering</a:t>
            </a:r>
            <a:endParaRPr lang="el-GR" sz="1500" dirty="0">
              <a:solidFill>
                <a:schemeClr val="bg1"/>
              </a:solidFill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1FB3087D-3344-2F44-C498-EDC26B304F13}"/>
              </a:ext>
            </a:extLst>
          </p:cNvPr>
          <p:cNvSpPr/>
          <p:nvPr/>
        </p:nvSpPr>
        <p:spPr>
          <a:xfrm>
            <a:off x="5813923" y="6483823"/>
            <a:ext cx="3450105" cy="361759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3A721677-84BA-1B45-0C4F-CD70F5728270}"/>
              </a:ext>
            </a:extLst>
          </p:cNvPr>
          <p:cNvSpPr/>
          <p:nvPr/>
        </p:nvSpPr>
        <p:spPr>
          <a:xfrm>
            <a:off x="9264028" y="6483823"/>
            <a:ext cx="2927972" cy="361759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DEB3F69-B8DA-C084-7C92-67C25CB0AD75}"/>
              </a:ext>
            </a:extLst>
          </p:cNvPr>
          <p:cNvSpPr/>
          <p:nvPr/>
        </p:nvSpPr>
        <p:spPr>
          <a:xfrm>
            <a:off x="5813923" y="-527"/>
            <a:ext cx="3450105" cy="361759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8DE7974-655B-1D98-5FE1-9CBAF9B54339}"/>
              </a:ext>
            </a:extLst>
          </p:cNvPr>
          <p:cNvSpPr/>
          <p:nvPr/>
        </p:nvSpPr>
        <p:spPr>
          <a:xfrm>
            <a:off x="9264028" y="-527"/>
            <a:ext cx="2927972" cy="361759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pic>
        <p:nvPicPr>
          <p:cNvPr id="86" name="Graphic 85" descr="Bullseye outline">
            <a:extLst>
              <a:ext uri="{FF2B5EF4-FFF2-40B4-BE49-F238E27FC236}">
                <a16:creationId xmlns:a16="http://schemas.microsoft.com/office/drawing/2014/main" id="{DC4AEB97-20B8-900B-2FBF-0F797321F2C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832879" y="2215898"/>
            <a:ext cx="511504" cy="511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075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5686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74BF85-0A41-DF57-F11F-1439A9123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think-cell data - do not delete" hidden="1">
            <a:extLst>
              <a:ext uri="{FF2B5EF4-FFF2-40B4-BE49-F238E27FC236}">
                <a16:creationId xmlns:a16="http://schemas.microsoft.com/office/drawing/2014/main" id="{B2BAD775-C5CD-9088-FDF8-EA8F582C5EE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60285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5" imgH="424" progId="TCLayout.ActiveDocument.1">
                  <p:embed/>
                </p:oleObj>
              </mc:Choice>
              <mc:Fallback>
                <p:oleObj name="think-cell Slide" r:id="rId4" imgW="425" imgH="424" progId="TCLayout.ActiveDocument.1">
                  <p:embed/>
                  <p:pic>
                    <p:nvPicPr>
                      <p:cNvPr id="2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8B39B8E-3861-CE7D-09D0-31D6EF6C823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Flowchart: Off-page Connector 10">
            <a:extLst>
              <a:ext uri="{FF2B5EF4-FFF2-40B4-BE49-F238E27FC236}">
                <a16:creationId xmlns:a16="http://schemas.microsoft.com/office/drawing/2014/main" id="{9630DC16-FE91-4E0E-F6A1-FE0BEAFD47EF}"/>
              </a:ext>
            </a:extLst>
          </p:cNvPr>
          <p:cNvSpPr/>
          <p:nvPr/>
        </p:nvSpPr>
        <p:spPr>
          <a:xfrm>
            <a:off x="5414749" y="2923134"/>
            <a:ext cx="708894" cy="934066"/>
          </a:xfrm>
          <a:prstGeom prst="flowChartOffpageConnector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F40472-04F1-A7CA-EE6D-4F3469921DD1}"/>
              </a:ext>
            </a:extLst>
          </p:cNvPr>
          <p:cNvSpPr/>
          <p:nvPr/>
        </p:nvSpPr>
        <p:spPr>
          <a:xfrm>
            <a:off x="0" y="0"/>
            <a:ext cx="2320413" cy="93406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49031E-734E-5A58-813F-1D5F7A5974C7}"/>
              </a:ext>
            </a:extLst>
          </p:cNvPr>
          <p:cNvSpPr txBox="1"/>
          <p:nvPr/>
        </p:nvSpPr>
        <p:spPr>
          <a:xfrm>
            <a:off x="0" y="273271"/>
            <a:ext cx="4710224" cy="361759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no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         Dataset Overview &amp; Processing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50F9B8-3547-1878-57A7-0FAB37A94633}"/>
              </a:ext>
            </a:extLst>
          </p:cNvPr>
          <p:cNvCxnSpPr>
            <a:cxnSpLocks/>
          </p:cNvCxnSpPr>
          <p:nvPr/>
        </p:nvCxnSpPr>
        <p:spPr>
          <a:xfrm>
            <a:off x="157316" y="0"/>
            <a:ext cx="0" cy="11208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A0DCD6C-81A0-8864-8DD6-FA9C8C16F536}"/>
              </a:ext>
            </a:extLst>
          </p:cNvPr>
          <p:cNvCxnSpPr>
            <a:cxnSpLocks/>
          </p:cNvCxnSpPr>
          <p:nvPr/>
        </p:nvCxnSpPr>
        <p:spPr>
          <a:xfrm>
            <a:off x="11970772" y="361760"/>
            <a:ext cx="0" cy="613244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95977AA-7A06-CA44-4972-BD94FADAC337}"/>
              </a:ext>
            </a:extLst>
          </p:cNvPr>
          <p:cNvCxnSpPr>
            <a:cxnSpLocks/>
          </p:cNvCxnSpPr>
          <p:nvPr/>
        </p:nvCxnSpPr>
        <p:spPr>
          <a:xfrm>
            <a:off x="12103508" y="361759"/>
            <a:ext cx="0" cy="613244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B2EF17B-F189-4E4F-B037-8C134B98F801}"/>
              </a:ext>
            </a:extLst>
          </p:cNvPr>
          <p:cNvCxnSpPr>
            <a:cxnSpLocks/>
          </p:cNvCxnSpPr>
          <p:nvPr/>
        </p:nvCxnSpPr>
        <p:spPr>
          <a:xfrm>
            <a:off x="290051" y="0"/>
            <a:ext cx="0" cy="11208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B50ADCD-E314-EF52-3F43-5DE799DFC11A}"/>
              </a:ext>
            </a:extLst>
          </p:cNvPr>
          <p:cNvCxnSpPr>
            <a:cxnSpLocks/>
          </p:cNvCxnSpPr>
          <p:nvPr/>
        </p:nvCxnSpPr>
        <p:spPr>
          <a:xfrm>
            <a:off x="417873" y="0"/>
            <a:ext cx="0" cy="11208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lowchart: Off-page Connector 1">
            <a:extLst>
              <a:ext uri="{FF2B5EF4-FFF2-40B4-BE49-F238E27FC236}">
                <a16:creationId xmlns:a16="http://schemas.microsoft.com/office/drawing/2014/main" id="{5130A870-46F3-6D92-A28A-C184BC224E79}"/>
              </a:ext>
            </a:extLst>
          </p:cNvPr>
          <p:cNvSpPr/>
          <p:nvPr/>
        </p:nvSpPr>
        <p:spPr>
          <a:xfrm>
            <a:off x="5383562" y="1688986"/>
            <a:ext cx="708894" cy="934066"/>
          </a:xfrm>
          <a:prstGeom prst="flowChartOffpageConnector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3305A4-630D-F73A-D0E5-58AFE97A51BD}"/>
              </a:ext>
            </a:extLst>
          </p:cNvPr>
          <p:cNvSpPr txBox="1"/>
          <p:nvPr/>
        </p:nvSpPr>
        <p:spPr>
          <a:xfrm>
            <a:off x="5536904" y="1875797"/>
            <a:ext cx="111110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>
                <a:solidFill>
                  <a:schemeClr val="bg1"/>
                </a:solidFill>
              </a:rPr>
              <a:t>1</a:t>
            </a:r>
            <a:endParaRPr lang="el-GR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6B97E5-30EA-1F1D-6924-8E72C8E2F60E}"/>
              </a:ext>
            </a:extLst>
          </p:cNvPr>
          <p:cNvSpPr txBox="1"/>
          <p:nvPr/>
        </p:nvSpPr>
        <p:spPr>
          <a:xfrm>
            <a:off x="6245798" y="1575715"/>
            <a:ext cx="621650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accent1">
                    <a:lumMod val="50000"/>
                  </a:schemeClr>
                </a:solidFill>
              </a:rPr>
              <a:t>Preprocessing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Drop Unneeded column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Handle missing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Encode categorical data</a:t>
            </a:r>
            <a:endParaRPr lang="el-GR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71DA39-A8A6-7048-B3DF-CFBC5BA16017}"/>
              </a:ext>
            </a:extLst>
          </p:cNvPr>
          <p:cNvSpPr txBox="1"/>
          <p:nvPr/>
        </p:nvSpPr>
        <p:spPr>
          <a:xfrm>
            <a:off x="6307524" y="2809210"/>
            <a:ext cx="62165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accent1">
                    <a:lumMod val="50000"/>
                  </a:schemeClr>
                </a:solidFill>
              </a:rPr>
              <a:t>K-means Clustering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Apply 5 clusters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Assign labels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FD1CA5-7542-3068-1053-8A0235B00717}"/>
              </a:ext>
            </a:extLst>
          </p:cNvPr>
          <p:cNvSpPr txBox="1"/>
          <p:nvPr/>
        </p:nvSpPr>
        <p:spPr>
          <a:xfrm>
            <a:off x="5598630" y="3109945"/>
            <a:ext cx="111110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>
                <a:solidFill>
                  <a:schemeClr val="bg1"/>
                </a:solidFill>
              </a:rPr>
              <a:t>2</a:t>
            </a:r>
            <a:endParaRPr lang="el-GR" sz="2500" dirty="0">
              <a:solidFill>
                <a:schemeClr val="bg1"/>
              </a:solidFill>
            </a:endParaRPr>
          </a:p>
        </p:txBody>
      </p:sp>
      <p:sp>
        <p:nvSpPr>
          <p:cNvPr id="12" name="Flowchart: Off-page Connector 11">
            <a:extLst>
              <a:ext uri="{FF2B5EF4-FFF2-40B4-BE49-F238E27FC236}">
                <a16:creationId xmlns:a16="http://schemas.microsoft.com/office/drawing/2014/main" id="{6647ECCA-C1A1-C5C0-96E1-3729DCCEE0B6}"/>
              </a:ext>
            </a:extLst>
          </p:cNvPr>
          <p:cNvSpPr/>
          <p:nvPr/>
        </p:nvSpPr>
        <p:spPr>
          <a:xfrm>
            <a:off x="5414749" y="4147261"/>
            <a:ext cx="708894" cy="934066"/>
          </a:xfrm>
          <a:prstGeom prst="flowChartOffpageConnector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D37809-600B-B580-793D-E7EB914730D8}"/>
              </a:ext>
            </a:extLst>
          </p:cNvPr>
          <p:cNvSpPr txBox="1"/>
          <p:nvPr/>
        </p:nvSpPr>
        <p:spPr>
          <a:xfrm>
            <a:off x="6232002" y="4031370"/>
            <a:ext cx="621650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accent1">
                    <a:lumMod val="50000"/>
                  </a:schemeClr>
                </a:solidFill>
              </a:rPr>
              <a:t>Results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Who are the main types of customers?  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Which customers spend the most?  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Which customer segments have the potential to increase their spending?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00D2D1-C9A8-CC0A-43AA-B682FAE82E51}"/>
              </a:ext>
            </a:extLst>
          </p:cNvPr>
          <p:cNvSpPr txBox="1"/>
          <p:nvPr/>
        </p:nvSpPr>
        <p:spPr>
          <a:xfrm>
            <a:off x="5598630" y="4314212"/>
            <a:ext cx="111110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>
                <a:solidFill>
                  <a:schemeClr val="bg1"/>
                </a:solidFill>
              </a:rPr>
              <a:t>3</a:t>
            </a:r>
            <a:endParaRPr lang="el-GR" sz="2500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2EEF3E-E466-AACB-10CB-A4A990BA9EE9}"/>
              </a:ext>
            </a:extLst>
          </p:cNvPr>
          <p:cNvSpPr txBox="1"/>
          <p:nvPr/>
        </p:nvSpPr>
        <p:spPr>
          <a:xfrm>
            <a:off x="316387" y="1906668"/>
            <a:ext cx="610308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       Gender (M, F)</a:t>
            </a:r>
          </a:p>
          <a:p>
            <a:endParaRPr lang="en-US" dirty="0">
              <a:solidFill>
                <a:schemeClr val="accent1">
                  <a:lumMod val="50000"/>
                </a:schemeClr>
              </a:solidFill>
            </a:endParaRPr>
          </a:p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      Age (18–80)</a:t>
            </a:r>
          </a:p>
          <a:p>
            <a:endParaRPr lang="en-US" dirty="0">
              <a:solidFill>
                <a:schemeClr val="accent1">
                  <a:lumMod val="50000"/>
                </a:schemeClr>
              </a:solidFill>
            </a:endParaRPr>
          </a:p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      Annual income in thousand </a:t>
            </a:r>
          </a:p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      USD (15–150)</a:t>
            </a:r>
          </a:p>
          <a:p>
            <a:endParaRPr lang="en-US" dirty="0">
              <a:solidFill>
                <a:schemeClr val="accent1">
                  <a:lumMod val="50000"/>
                </a:schemeClr>
              </a:solidFill>
            </a:endParaRPr>
          </a:p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       Spending Score (1–100)</a:t>
            </a:r>
            <a:endParaRPr lang="el-GR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DF61E3-366C-B2D0-7D6E-4319ECC3DA52}"/>
              </a:ext>
            </a:extLst>
          </p:cNvPr>
          <p:cNvSpPr txBox="1"/>
          <p:nvPr/>
        </p:nvSpPr>
        <p:spPr>
          <a:xfrm>
            <a:off x="349566" y="1549054"/>
            <a:ext cx="4218881" cy="31907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anchor="ctr" anchorCtr="0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Features</a:t>
            </a:r>
            <a:endParaRPr lang="el-GR" sz="2000" b="1" dirty="0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9BADE0F-DBFC-237E-FEB5-147EE389293D}"/>
              </a:ext>
            </a:extLst>
          </p:cNvPr>
          <p:cNvSpPr/>
          <p:nvPr/>
        </p:nvSpPr>
        <p:spPr>
          <a:xfrm>
            <a:off x="349567" y="1840258"/>
            <a:ext cx="4218876" cy="2473953"/>
          </a:xfrm>
          <a:prstGeom prst="rect">
            <a:avLst/>
          </a:prstGeom>
          <a:noFill/>
          <a:ln w="63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pic>
        <p:nvPicPr>
          <p:cNvPr id="28" name="Graphic 27" descr="Gender with solid fill">
            <a:extLst>
              <a:ext uri="{FF2B5EF4-FFF2-40B4-BE49-F238E27FC236}">
                <a16:creationId xmlns:a16="http://schemas.microsoft.com/office/drawing/2014/main" id="{4AEE28B3-9416-7913-1F13-938DDE58F9A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9563" y="1906668"/>
            <a:ext cx="379286" cy="379286"/>
          </a:xfrm>
          <a:prstGeom prst="rect">
            <a:avLst/>
          </a:prstGeom>
        </p:spPr>
      </p:pic>
      <p:pic>
        <p:nvPicPr>
          <p:cNvPr id="30" name="Graphic 29" descr="Money outline">
            <a:extLst>
              <a:ext uri="{FF2B5EF4-FFF2-40B4-BE49-F238E27FC236}">
                <a16:creationId xmlns:a16="http://schemas.microsoft.com/office/drawing/2014/main" id="{78CC1971-B57D-DC7E-6C99-E9703A592E2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49563" y="3108588"/>
            <a:ext cx="366410" cy="379286"/>
          </a:xfrm>
          <a:prstGeom prst="rect">
            <a:avLst/>
          </a:prstGeom>
        </p:spPr>
      </p:pic>
      <p:pic>
        <p:nvPicPr>
          <p:cNvPr id="32" name="Graphic 31" descr="Cycle with people outline">
            <a:extLst>
              <a:ext uri="{FF2B5EF4-FFF2-40B4-BE49-F238E27FC236}">
                <a16:creationId xmlns:a16="http://schemas.microsoft.com/office/drawing/2014/main" id="{951D1809-ADD5-C894-975E-F67C9F75C77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86987" y="2406282"/>
            <a:ext cx="504438" cy="504438"/>
          </a:xfrm>
          <a:prstGeom prst="rect">
            <a:avLst/>
          </a:prstGeom>
        </p:spPr>
      </p:pic>
      <p:pic>
        <p:nvPicPr>
          <p:cNvPr id="34" name="Graphic 33" descr="List outline">
            <a:extLst>
              <a:ext uri="{FF2B5EF4-FFF2-40B4-BE49-F238E27FC236}">
                <a16:creationId xmlns:a16="http://schemas.microsoft.com/office/drawing/2014/main" id="{1982EC50-D1B7-FF3D-CAD4-CA0F1FE8274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86987" y="3816877"/>
            <a:ext cx="428986" cy="428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6523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5686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96033C-CDCB-06AE-64A0-92CB6ABB4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think-cell data - do not delete" hidden="1">
            <a:extLst>
              <a:ext uri="{FF2B5EF4-FFF2-40B4-BE49-F238E27FC236}">
                <a16:creationId xmlns:a16="http://schemas.microsoft.com/office/drawing/2014/main" id="{C8C3CAF8-4717-CF42-0345-6169138F18A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5" imgH="424" progId="TCLayout.ActiveDocument.1">
                  <p:embed/>
                </p:oleObj>
              </mc:Choice>
              <mc:Fallback>
                <p:oleObj name="think-cell Slide" r:id="rId4" imgW="425" imgH="424" progId="TCLayout.ActiveDocument.1">
                  <p:embed/>
                  <p:pic>
                    <p:nvPicPr>
                      <p:cNvPr id="2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8B39B8E-3861-CE7D-09D0-31D6EF6C823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CCBDEB63-E416-4265-BF45-FAB35816395B}"/>
              </a:ext>
            </a:extLst>
          </p:cNvPr>
          <p:cNvSpPr/>
          <p:nvPr/>
        </p:nvSpPr>
        <p:spPr>
          <a:xfrm>
            <a:off x="0" y="1"/>
            <a:ext cx="2320413" cy="67325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7D170E-2B5D-7483-6CC5-43EF95593DCD}"/>
              </a:ext>
            </a:extLst>
          </p:cNvPr>
          <p:cNvSpPr txBox="1"/>
          <p:nvPr/>
        </p:nvSpPr>
        <p:spPr>
          <a:xfrm>
            <a:off x="-1" y="166945"/>
            <a:ext cx="5135525" cy="361759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no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         Demographic Analysis of Customers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459B804-8AA5-2164-523D-CB0DC4CCE311}"/>
              </a:ext>
            </a:extLst>
          </p:cNvPr>
          <p:cNvCxnSpPr>
            <a:cxnSpLocks/>
          </p:cNvCxnSpPr>
          <p:nvPr/>
        </p:nvCxnSpPr>
        <p:spPr>
          <a:xfrm>
            <a:off x="157316" y="0"/>
            <a:ext cx="0" cy="11208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A9C6C34-9184-F306-EC7B-74D87A17F0F3}"/>
              </a:ext>
            </a:extLst>
          </p:cNvPr>
          <p:cNvCxnSpPr>
            <a:cxnSpLocks/>
          </p:cNvCxnSpPr>
          <p:nvPr/>
        </p:nvCxnSpPr>
        <p:spPr>
          <a:xfrm>
            <a:off x="11970772" y="361760"/>
            <a:ext cx="0" cy="613244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C31FFCE-DE8F-3B7A-DDDE-83995EB35CDE}"/>
              </a:ext>
            </a:extLst>
          </p:cNvPr>
          <p:cNvCxnSpPr>
            <a:cxnSpLocks/>
          </p:cNvCxnSpPr>
          <p:nvPr/>
        </p:nvCxnSpPr>
        <p:spPr>
          <a:xfrm>
            <a:off x="12103508" y="361759"/>
            <a:ext cx="0" cy="613244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732A120-F61C-3B94-D94C-310E2864CB3C}"/>
              </a:ext>
            </a:extLst>
          </p:cNvPr>
          <p:cNvCxnSpPr>
            <a:cxnSpLocks/>
          </p:cNvCxnSpPr>
          <p:nvPr/>
        </p:nvCxnSpPr>
        <p:spPr>
          <a:xfrm>
            <a:off x="290051" y="0"/>
            <a:ext cx="0" cy="11208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DBA56D2-FD62-AE55-868D-A6396A2BE6FD}"/>
              </a:ext>
            </a:extLst>
          </p:cNvPr>
          <p:cNvCxnSpPr>
            <a:cxnSpLocks/>
          </p:cNvCxnSpPr>
          <p:nvPr/>
        </p:nvCxnSpPr>
        <p:spPr>
          <a:xfrm>
            <a:off x="417873" y="0"/>
            <a:ext cx="0" cy="11208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8A61CD16-A835-6FB7-E13E-E41A054E8BF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67" b="3907"/>
          <a:stretch>
            <a:fillRect/>
          </a:stretch>
        </p:blipFill>
        <p:spPr>
          <a:xfrm>
            <a:off x="6908040" y="1102573"/>
            <a:ext cx="4814258" cy="251786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8A2B39-C70D-5A1D-9C30-3161B3B1EA5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78" t="7599" r="3092" b="3707"/>
          <a:stretch>
            <a:fillRect/>
          </a:stretch>
        </p:blipFill>
        <p:spPr>
          <a:xfrm>
            <a:off x="3023331" y="1030013"/>
            <a:ext cx="2779761" cy="263828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719C0FC-07CD-22D5-0CD8-F181C0CD268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765"/>
          <a:stretch>
            <a:fillRect/>
          </a:stretch>
        </p:blipFill>
        <p:spPr>
          <a:xfrm>
            <a:off x="6767542" y="4175391"/>
            <a:ext cx="5134689" cy="258785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417E29C-D295-5716-FC83-8A0AEC4A609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356"/>
          <a:stretch>
            <a:fillRect/>
          </a:stretch>
        </p:blipFill>
        <p:spPr>
          <a:xfrm>
            <a:off x="2099187" y="4223902"/>
            <a:ext cx="4454954" cy="2506507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E494CCA7-F3BD-669B-B1C2-4EA4C5822DCB}"/>
              </a:ext>
            </a:extLst>
          </p:cNvPr>
          <p:cNvSpPr/>
          <p:nvPr/>
        </p:nvSpPr>
        <p:spPr>
          <a:xfrm>
            <a:off x="2153663" y="721767"/>
            <a:ext cx="4431891" cy="2898675"/>
          </a:xfrm>
          <a:prstGeom prst="rect">
            <a:avLst/>
          </a:prstGeom>
          <a:noFill/>
          <a:ln w="63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40C9E22-7486-41F9-DCC9-AF60E8A87B91}"/>
              </a:ext>
            </a:extLst>
          </p:cNvPr>
          <p:cNvSpPr txBox="1"/>
          <p:nvPr/>
        </p:nvSpPr>
        <p:spPr>
          <a:xfrm>
            <a:off x="2149319" y="735307"/>
            <a:ext cx="4431891" cy="27178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anchor="ctr" anchorCtr="0">
            <a:noAutofit/>
          </a:bodyPr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Gender</a:t>
            </a:r>
            <a:endParaRPr lang="el-GR" sz="1500" b="1" dirty="0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688AA2C-79CE-2471-8687-6252D14DC119}"/>
              </a:ext>
            </a:extLst>
          </p:cNvPr>
          <p:cNvSpPr/>
          <p:nvPr/>
        </p:nvSpPr>
        <p:spPr>
          <a:xfrm>
            <a:off x="6767542" y="735307"/>
            <a:ext cx="5070493" cy="2898675"/>
          </a:xfrm>
          <a:prstGeom prst="rect">
            <a:avLst/>
          </a:prstGeom>
          <a:noFill/>
          <a:ln w="63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0638F6-BEFA-4EE8-3D44-66430C5B2DAE}"/>
              </a:ext>
            </a:extLst>
          </p:cNvPr>
          <p:cNvSpPr txBox="1"/>
          <p:nvPr/>
        </p:nvSpPr>
        <p:spPr>
          <a:xfrm>
            <a:off x="6775305" y="740333"/>
            <a:ext cx="5058386" cy="27169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anchor="ctr" anchorCtr="0">
            <a:noAutofit/>
          </a:bodyPr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Age</a:t>
            </a:r>
            <a:endParaRPr lang="el-GR" sz="1500" b="1" dirty="0">
              <a:solidFill>
                <a:schemeClr val="bg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0BEF3B0-2E3A-E44A-4453-AEC8E8AE1B0C}"/>
              </a:ext>
            </a:extLst>
          </p:cNvPr>
          <p:cNvSpPr txBox="1"/>
          <p:nvPr/>
        </p:nvSpPr>
        <p:spPr>
          <a:xfrm>
            <a:off x="2153664" y="3864566"/>
            <a:ext cx="4400471" cy="310825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anchor="ctr" anchorCtr="0">
            <a:noAutofit/>
          </a:bodyPr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Spending Score</a:t>
            </a:r>
            <a:endParaRPr lang="el-GR" sz="1500" b="1" dirty="0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187DD59-8E38-F285-75D3-3046C52E87F1}"/>
              </a:ext>
            </a:extLst>
          </p:cNvPr>
          <p:cNvSpPr/>
          <p:nvPr/>
        </p:nvSpPr>
        <p:spPr>
          <a:xfrm>
            <a:off x="2153664" y="3864566"/>
            <a:ext cx="4400469" cy="2898675"/>
          </a:xfrm>
          <a:prstGeom prst="rect">
            <a:avLst/>
          </a:prstGeom>
          <a:noFill/>
          <a:ln w="63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1A67FB0-ED67-FA12-42D8-1EEB857A9CF0}"/>
              </a:ext>
            </a:extLst>
          </p:cNvPr>
          <p:cNvSpPr txBox="1"/>
          <p:nvPr/>
        </p:nvSpPr>
        <p:spPr>
          <a:xfrm>
            <a:off x="6767542" y="3864566"/>
            <a:ext cx="5066148" cy="29369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anchor="ctr" anchorCtr="0">
            <a:noAutofit/>
          </a:bodyPr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Annual Income</a:t>
            </a:r>
            <a:endParaRPr lang="el-GR" sz="1500" b="1" dirty="0">
              <a:solidFill>
                <a:schemeClr val="bg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D885031-35D0-644B-D1A4-019C10BE1644}"/>
              </a:ext>
            </a:extLst>
          </p:cNvPr>
          <p:cNvSpPr/>
          <p:nvPr/>
        </p:nvSpPr>
        <p:spPr>
          <a:xfrm>
            <a:off x="6767534" y="3864566"/>
            <a:ext cx="5070493" cy="2898675"/>
          </a:xfrm>
          <a:prstGeom prst="rect">
            <a:avLst/>
          </a:prstGeom>
          <a:noFill/>
          <a:ln w="63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7047941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5686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5B682A-DC63-8296-7CFD-880B6544E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think-cell data - do not delete" hidden="1">
            <a:extLst>
              <a:ext uri="{FF2B5EF4-FFF2-40B4-BE49-F238E27FC236}">
                <a16:creationId xmlns:a16="http://schemas.microsoft.com/office/drawing/2014/main" id="{AC58DC60-00E4-FF97-D686-8F754E5F453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2103367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5" imgH="424" progId="TCLayout.ActiveDocument.1">
                  <p:embed/>
                </p:oleObj>
              </mc:Choice>
              <mc:Fallback>
                <p:oleObj name="think-cell Slide" r:id="rId4" imgW="425" imgH="424" progId="TCLayout.ActiveDocument.1">
                  <p:embed/>
                  <p:pic>
                    <p:nvPicPr>
                      <p:cNvPr id="2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8C3CAF8-4717-CF42-0345-6169138F18A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9A092A01-2271-751C-09FC-E9DC74AAADFE}"/>
              </a:ext>
            </a:extLst>
          </p:cNvPr>
          <p:cNvSpPr/>
          <p:nvPr/>
        </p:nvSpPr>
        <p:spPr>
          <a:xfrm>
            <a:off x="0" y="1"/>
            <a:ext cx="2320413" cy="67325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53E28C-005B-008C-BE8B-1F414B0B21DB}"/>
              </a:ext>
            </a:extLst>
          </p:cNvPr>
          <p:cNvSpPr txBox="1"/>
          <p:nvPr/>
        </p:nvSpPr>
        <p:spPr>
          <a:xfrm>
            <a:off x="-1" y="166945"/>
            <a:ext cx="5135525" cy="361759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no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         K-Means Clustering of Customers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E006E3B-3E7C-D674-212E-24FB67CA5584}"/>
              </a:ext>
            </a:extLst>
          </p:cNvPr>
          <p:cNvCxnSpPr>
            <a:cxnSpLocks/>
          </p:cNvCxnSpPr>
          <p:nvPr/>
        </p:nvCxnSpPr>
        <p:spPr>
          <a:xfrm>
            <a:off x="157316" y="0"/>
            <a:ext cx="0" cy="11208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F6FEEEE-40D6-27D3-5EB5-0FBE3EA705D3}"/>
              </a:ext>
            </a:extLst>
          </p:cNvPr>
          <p:cNvCxnSpPr>
            <a:cxnSpLocks/>
          </p:cNvCxnSpPr>
          <p:nvPr/>
        </p:nvCxnSpPr>
        <p:spPr>
          <a:xfrm>
            <a:off x="11970772" y="361760"/>
            <a:ext cx="0" cy="613244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680A6B4-41AB-24AD-F811-8CBF2959B78A}"/>
              </a:ext>
            </a:extLst>
          </p:cNvPr>
          <p:cNvCxnSpPr>
            <a:cxnSpLocks/>
          </p:cNvCxnSpPr>
          <p:nvPr/>
        </p:nvCxnSpPr>
        <p:spPr>
          <a:xfrm>
            <a:off x="12103508" y="361759"/>
            <a:ext cx="0" cy="613244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83DAB57-3AEF-F2CB-BB9E-41237A66FB67}"/>
              </a:ext>
            </a:extLst>
          </p:cNvPr>
          <p:cNvCxnSpPr>
            <a:cxnSpLocks/>
          </p:cNvCxnSpPr>
          <p:nvPr/>
        </p:nvCxnSpPr>
        <p:spPr>
          <a:xfrm>
            <a:off x="290051" y="0"/>
            <a:ext cx="0" cy="11208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6E9F7F3-E381-8176-098A-4B38C924828E}"/>
              </a:ext>
            </a:extLst>
          </p:cNvPr>
          <p:cNvCxnSpPr>
            <a:cxnSpLocks/>
          </p:cNvCxnSpPr>
          <p:nvPr/>
        </p:nvCxnSpPr>
        <p:spPr>
          <a:xfrm>
            <a:off x="417873" y="0"/>
            <a:ext cx="0" cy="11208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FBB4786A-C8B6-5C26-1904-05E1DC2C8D0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08" b="1"/>
          <a:stretch>
            <a:fillRect/>
          </a:stretch>
        </p:blipFill>
        <p:spPr>
          <a:xfrm>
            <a:off x="1864203" y="1212969"/>
            <a:ext cx="7577510" cy="564503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6EFFF6E-1184-F415-74A0-DB1F671C2527}"/>
              </a:ext>
            </a:extLst>
          </p:cNvPr>
          <p:cNvSpPr txBox="1"/>
          <p:nvPr/>
        </p:nvSpPr>
        <p:spPr>
          <a:xfrm>
            <a:off x="1945759" y="799155"/>
            <a:ext cx="7495954" cy="413814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anchor="ctr" anchorCtr="0">
            <a:noAutofit/>
          </a:bodyPr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K-Means</a:t>
            </a:r>
            <a:endParaRPr lang="el-GR" sz="1500" b="1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7E35350-AF7A-43A4-E0B2-1FC8E09FFEB6}"/>
              </a:ext>
            </a:extLst>
          </p:cNvPr>
          <p:cNvSpPr/>
          <p:nvPr/>
        </p:nvSpPr>
        <p:spPr>
          <a:xfrm>
            <a:off x="1945759" y="799155"/>
            <a:ext cx="7495954" cy="5973785"/>
          </a:xfrm>
          <a:prstGeom prst="rect">
            <a:avLst/>
          </a:prstGeom>
          <a:noFill/>
          <a:ln w="63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425998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5686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B4CF9F-93AC-0228-248A-37A908F4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think-cell data - do not delete" hidden="1">
            <a:extLst>
              <a:ext uri="{FF2B5EF4-FFF2-40B4-BE49-F238E27FC236}">
                <a16:creationId xmlns:a16="http://schemas.microsoft.com/office/drawing/2014/main" id="{9429BAA5-0CD1-C69F-D259-7FBBD477828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5" imgH="424" progId="TCLayout.ActiveDocument.1">
                  <p:embed/>
                </p:oleObj>
              </mc:Choice>
              <mc:Fallback>
                <p:oleObj name="think-cell Slide" r:id="rId4" imgW="425" imgH="424" progId="TCLayout.ActiveDocument.1">
                  <p:embed/>
                  <p:pic>
                    <p:nvPicPr>
                      <p:cNvPr id="2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C58DC60-00E4-FF97-D686-8F754E5F453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E34A12C7-7389-11E7-9571-BFFD5BA7D297}"/>
              </a:ext>
            </a:extLst>
          </p:cNvPr>
          <p:cNvSpPr/>
          <p:nvPr/>
        </p:nvSpPr>
        <p:spPr>
          <a:xfrm>
            <a:off x="0" y="1"/>
            <a:ext cx="2320413" cy="67325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92C663-1A33-B77B-1DA0-B2A30A63BC02}"/>
              </a:ext>
            </a:extLst>
          </p:cNvPr>
          <p:cNvSpPr txBox="1"/>
          <p:nvPr/>
        </p:nvSpPr>
        <p:spPr>
          <a:xfrm>
            <a:off x="-1" y="166945"/>
            <a:ext cx="5135525" cy="361759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no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         Cluster Profiles Overview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3FCB35-3285-C179-ED8E-1A7B844BF43F}"/>
              </a:ext>
            </a:extLst>
          </p:cNvPr>
          <p:cNvCxnSpPr>
            <a:cxnSpLocks/>
          </p:cNvCxnSpPr>
          <p:nvPr/>
        </p:nvCxnSpPr>
        <p:spPr>
          <a:xfrm>
            <a:off x="157316" y="0"/>
            <a:ext cx="0" cy="11208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51B2BFC-FA0B-1623-98C9-A3B4E90D8E0B}"/>
              </a:ext>
            </a:extLst>
          </p:cNvPr>
          <p:cNvCxnSpPr>
            <a:cxnSpLocks/>
          </p:cNvCxnSpPr>
          <p:nvPr/>
        </p:nvCxnSpPr>
        <p:spPr>
          <a:xfrm>
            <a:off x="11970772" y="361760"/>
            <a:ext cx="0" cy="613244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C49DCFF-6144-C2C5-036F-43FA01698BC6}"/>
              </a:ext>
            </a:extLst>
          </p:cNvPr>
          <p:cNvCxnSpPr>
            <a:cxnSpLocks/>
          </p:cNvCxnSpPr>
          <p:nvPr/>
        </p:nvCxnSpPr>
        <p:spPr>
          <a:xfrm>
            <a:off x="12103508" y="361759"/>
            <a:ext cx="0" cy="613244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FED2000-563E-27B4-3F3C-8E7FC117A513}"/>
              </a:ext>
            </a:extLst>
          </p:cNvPr>
          <p:cNvCxnSpPr>
            <a:cxnSpLocks/>
          </p:cNvCxnSpPr>
          <p:nvPr/>
        </p:nvCxnSpPr>
        <p:spPr>
          <a:xfrm>
            <a:off x="290051" y="0"/>
            <a:ext cx="0" cy="11208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635FEB3-2B7C-C94F-41F0-C6DFEDCA894A}"/>
              </a:ext>
            </a:extLst>
          </p:cNvPr>
          <p:cNvCxnSpPr>
            <a:cxnSpLocks/>
          </p:cNvCxnSpPr>
          <p:nvPr/>
        </p:nvCxnSpPr>
        <p:spPr>
          <a:xfrm>
            <a:off x="417873" y="0"/>
            <a:ext cx="0" cy="11208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E1D9B154-42F0-3160-F882-46375AD2758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81" b="3909"/>
          <a:stretch>
            <a:fillRect/>
          </a:stretch>
        </p:blipFill>
        <p:spPr>
          <a:xfrm>
            <a:off x="653842" y="1371603"/>
            <a:ext cx="11176301" cy="524185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203416-9377-3679-B891-5B1FC00A75A1}"/>
              </a:ext>
            </a:extLst>
          </p:cNvPr>
          <p:cNvSpPr txBox="1"/>
          <p:nvPr/>
        </p:nvSpPr>
        <p:spPr>
          <a:xfrm>
            <a:off x="653843" y="1001182"/>
            <a:ext cx="11120282" cy="36175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anchor="ctr" anchorCtr="0">
            <a:noAutofit/>
          </a:bodyPr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Cluster Profiles</a:t>
            </a:r>
            <a:endParaRPr lang="el-GR" sz="1500" b="1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657A489-1A4D-55A6-83E2-6242CC37A356}"/>
              </a:ext>
            </a:extLst>
          </p:cNvPr>
          <p:cNvSpPr/>
          <p:nvPr/>
        </p:nvSpPr>
        <p:spPr>
          <a:xfrm>
            <a:off x="653842" y="1362941"/>
            <a:ext cx="11120283" cy="5241851"/>
          </a:xfrm>
          <a:prstGeom prst="rect">
            <a:avLst/>
          </a:prstGeom>
          <a:noFill/>
          <a:ln w="63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1364067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5686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966C84-A514-9D95-02C8-D3C3BB02F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think-cell data - do not delete" hidden="1">
            <a:extLst>
              <a:ext uri="{FF2B5EF4-FFF2-40B4-BE49-F238E27FC236}">
                <a16:creationId xmlns:a16="http://schemas.microsoft.com/office/drawing/2014/main" id="{EB557128-189D-7383-0934-A29961344A4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5" imgH="424" progId="TCLayout.ActiveDocument.1">
                  <p:embed/>
                </p:oleObj>
              </mc:Choice>
              <mc:Fallback>
                <p:oleObj name="think-cell Slide" r:id="rId4" imgW="425" imgH="424" progId="TCLayout.ActiveDocument.1">
                  <p:embed/>
                  <p:pic>
                    <p:nvPicPr>
                      <p:cNvPr id="2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429BAA5-0CD1-C69F-D259-7FBBD477828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489859F3-1094-74E8-DA09-F07D13773266}"/>
              </a:ext>
            </a:extLst>
          </p:cNvPr>
          <p:cNvSpPr/>
          <p:nvPr/>
        </p:nvSpPr>
        <p:spPr>
          <a:xfrm>
            <a:off x="0" y="1"/>
            <a:ext cx="2320413" cy="67325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D1B65B-AA70-B404-D682-A7781797B0F2}"/>
              </a:ext>
            </a:extLst>
          </p:cNvPr>
          <p:cNvSpPr txBox="1"/>
          <p:nvPr/>
        </p:nvSpPr>
        <p:spPr>
          <a:xfrm>
            <a:off x="-1" y="166945"/>
            <a:ext cx="5135525" cy="361759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no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         K-Means Clustering of Customers</a:t>
            </a:r>
            <a:r>
              <a:rPr lang="en-US" sz="1500" b="1" dirty="0">
                <a:solidFill>
                  <a:schemeClr val="bg1"/>
                </a:solidFill>
              </a:rPr>
              <a:t>(1/2)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8B46D9F-1FBE-2B7E-78C8-F0834CC3A1FC}"/>
              </a:ext>
            </a:extLst>
          </p:cNvPr>
          <p:cNvCxnSpPr>
            <a:cxnSpLocks/>
          </p:cNvCxnSpPr>
          <p:nvPr/>
        </p:nvCxnSpPr>
        <p:spPr>
          <a:xfrm>
            <a:off x="157316" y="0"/>
            <a:ext cx="0" cy="11208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E0129AA-50AA-8BD4-DDD0-62FFABE543DE}"/>
              </a:ext>
            </a:extLst>
          </p:cNvPr>
          <p:cNvCxnSpPr>
            <a:cxnSpLocks/>
          </p:cNvCxnSpPr>
          <p:nvPr/>
        </p:nvCxnSpPr>
        <p:spPr>
          <a:xfrm>
            <a:off x="11970772" y="361760"/>
            <a:ext cx="0" cy="613244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030B377-2C60-BA16-8039-ADDEDA925C93}"/>
              </a:ext>
            </a:extLst>
          </p:cNvPr>
          <p:cNvCxnSpPr>
            <a:cxnSpLocks/>
          </p:cNvCxnSpPr>
          <p:nvPr/>
        </p:nvCxnSpPr>
        <p:spPr>
          <a:xfrm>
            <a:off x="12103508" y="361759"/>
            <a:ext cx="0" cy="613244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ADA0453-4EE4-F0CD-7090-FCA6724E9D31}"/>
              </a:ext>
            </a:extLst>
          </p:cNvPr>
          <p:cNvCxnSpPr>
            <a:cxnSpLocks/>
          </p:cNvCxnSpPr>
          <p:nvPr/>
        </p:nvCxnSpPr>
        <p:spPr>
          <a:xfrm>
            <a:off x="290051" y="0"/>
            <a:ext cx="0" cy="11208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CDEE82D-4C85-B43A-2ED7-2F7ED3441F88}"/>
              </a:ext>
            </a:extLst>
          </p:cNvPr>
          <p:cNvCxnSpPr>
            <a:cxnSpLocks/>
          </p:cNvCxnSpPr>
          <p:nvPr/>
        </p:nvCxnSpPr>
        <p:spPr>
          <a:xfrm>
            <a:off x="417873" y="0"/>
            <a:ext cx="0" cy="11208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BC86DA4-953B-9C34-07AB-94338792EF43}"/>
              </a:ext>
            </a:extLst>
          </p:cNvPr>
          <p:cNvSpPr txBox="1"/>
          <p:nvPr/>
        </p:nvSpPr>
        <p:spPr>
          <a:xfrm>
            <a:off x="88491" y="791188"/>
            <a:ext cx="3554697" cy="36175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anchor="ctr" anchorCtr="0">
            <a:noAutofit/>
          </a:bodyPr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Young Impulsive Spenders</a:t>
            </a:r>
            <a:endParaRPr lang="el-GR" sz="1500" b="1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811E61-F80A-3943-C33A-E268ADD6F7D9}"/>
              </a:ext>
            </a:extLst>
          </p:cNvPr>
          <p:cNvSpPr/>
          <p:nvPr/>
        </p:nvSpPr>
        <p:spPr>
          <a:xfrm>
            <a:off x="88491" y="791188"/>
            <a:ext cx="3554697" cy="3572367"/>
          </a:xfrm>
          <a:prstGeom prst="rect">
            <a:avLst/>
          </a:prstGeom>
          <a:noFill/>
          <a:ln w="63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C7717A3-4BA6-876E-3C64-A84B4548C3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836"/>
          <a:stretch>
            <a:fillRect/>
          </a:stretch>
        </p:blipFill>
        <p:spPr>
          <a:xfrm>
            <a:off x="155850" y="1238810"/>
            <a:ext cx="3487338" cy="3124746"/>
          </a:xfrm>
          <a:prstGeom prst="rect">
            <a:avLst/>
          </a:prstGeom>
        </p:spPr>
      </p:pic>
      <p:pic>
        <p:nvPicPr>
          <p:cNvPr id="18" name="Graphic 17" descr="Lightbulb and gear outline">
            <a:extLst>
              <a:ext uri="{FF2B5EF4-FFF2-40B4-BE49-F238E27FC236}">
                <a16:creationId xmlns:a16="http://schemas.microsoft.com/office/drawing/2014/main" id="{F19F215C-6C5D-46A1-CAF5-DDA0B9F868F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21227" y="4351486"/>
            <a:ext cx="368941" cy="36894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74CED8E-A6C7-3C36-90E3-3CBB3E1B685E}"/>
              </a:ext>
            </a:extLst>
          </p:cNvPr>
          <p:cNvSpPr txBox="1"/>
          <p:nvPr/>
        </p:nvSpPr>
        <p:spPr>
          <a:xfrm>
            <a:off x="422499" y="4253619"/>
            <a:ext cx="1855790" cy="564674"/>
          </a:xfrm>
          <a:prstGeom prst="rect">
            <a:avLst/>
          </a:prstGeom>
          <a:noFill/>
          <a:ln>
            <a:noFill/>
          </a:ln>
        </p:spPr>
        <p:txBody>
          <a:bodyPr vert="horz" wrap="square" anchor="ctr" anchorCtr="0">
            <a:noAutofit/>
          </a:bodyPr>
          <a:lstStyle/>
          <a:p>
            <a:pPr algn="ctr"/>
            <a:r>
              <a:rPr lang="en-US" sz="2000" b="1" dirty="0">
                <a:solidFill>
                  <a:schemeClr val="accent1">
                    <a:lumMod val="75000"/>
                  </a:schemeClr>
                </a:solidFill>
              </a:rPr>
              <a:t>Insights</a:t>
            </a:r>
            <a:endParaRPr lang="el-GR" sz="2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EB11A2A-19E1-C13B-CC50-85F68BFCCBC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22"/>
          <a:stretch>
            <a:fillRect/>
          </a:stretch>
        </p:blipFill>
        <p:spPr>
          <a:xfrm>
            <a:off x="4086379" y="1142176"/>
            <a:ext cx="3815255" cy="328393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8714972-DA25-AF5B-3E37-447D0C2E372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72"/>
          <a:stretch>
            <a:fillRect/>
          </a:stretch>
        </p:blipFill>
        <p:spPr>
          <a:xfrm>
            <a:off x="8219429" y="1066218"/>
            <a:ext cx="3815255" cy="3435850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156065E-41FC-1DE0-1868-CB85A2B9C035}"/>
              </a:ext>
            </a:extLst>
          </p:cNvPr>
          <p:cNvCxnSpPr/>
          <p:nvPr/>
        </p:nvCxnSpPr>
        <p:spPr>
          <a:xfrm>
            <a:off x="88492" y="4752497"/>
            <a:ext cx="12103508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4A07412-C0DC-27A8-7038-449303F1CFF4}"/>
              </a:ext>
            </a:extLst>
          </p:cNvPr>
          <p:cNvSpPr txBox="1"/>
          <p:nvPr/>
        </p:nvSpPr>
        <p:spPr>
          <a:xfrm>
            <a:off x="4086379" y="784609"/>
            <a:ext cx="3739190" cy="36175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anchor="ctr" anchorCtr="0">
            <a:noAutofit/>
          </a:bodyPr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Average middle-class customers</a:t>
            </a:r>
            <a:endParaRPr lang="el-GR" sz="1500" b="1" dirty="0">
              <a:solidFill>
                <a:schemeClr val="bg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0F132C2-924B-C11D-5F3E-90D5ED22F879}"/>
              </a:ext>
            </a:extLst>
          </p:cNvPr>
          <p:cNvSpPr/>
          <p:nvPr/>
        </p:nvSpPr>
        <p:spPr>
          <a:xfrm>
            <a:off x="4086379" y="791188"/>
            <a:ext cx="3739190" cy="3572367"/>
          </a:xfrm>
          <a:prstGeom prst="rect">
            <a:avLst/>
          </a:prstGeom>
          <a:noFill/>
          <a:ln w="63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05FB52A-DB94-3D56-EAD2-BF439A23238D}"/>
              </a:ext>
            </a:extLst>
          </p:cNvPr>
          <p:cNvSpPr txBox="1"/>
          <p:nvPr/>
        </p:nvSpPr>
        <p:spPr>
          <a:xfrm>
            <a:off x="8288253" y="791187"/>
            <a:ext cx="3815255" cy="36175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anchor="ctr" anchorCtr="0">
            <a:noAutofit/>
          </a:bodyPr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High-income conservative spenders</a:t>
            </a:r>
            <a:endParaRPr lang="el-GR" sz="1500" b="1" dirty="0">
              <a:solidFill>
                <a:schemeClr val="bg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2FE0AF-C2FB-2314-0B35-3C7E3B8D752D}"/>
              </a:ext>
            </a:extLst>
          </p:cNvPr>
          <p:cNvSpPr/>
          <p:nvPr/>
        </p:nvSpPr>
        <p:spPr>
          <a:xfrm>
            <a:off x="8288251" y="1129202"/>
            <a:ext cx="3815251" cy="3234354"/>
          </a:xfrm>
          <a:prstGeom prst="rect">
            <a:avLst/>
          </a:prstGeom>
          <a:noFill/>
          <a:ln w="63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BB95472-8D74-D257-68A7-3846BDD570AB}"/>
              </a:ext>
            </a:extLst>
          </p:cNvPr>
          <p:cNvSpPr txBox="1"/>
          <p:nvPr/>
        </p:nvSpPr>
        <p:spPr>
          <a:xfrm>
            <a:off x="88491" y="4701126"/>
            <a:ext cx="2727709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50000"/>
                  </a:schemeClr>
                </a:solidFill>
              </a:rPr>
              <a:t>Characteristics</a:t>
            </a:r>
            <a:r>
              <a:rPr lang="en-US" sz="1500" b="1" dirty="0">
                <a:solidFill>
                  <a:schemeClr val="accent1">
                    <a:lumMod val="50000"/>
                  </a:schemeClr>
                </a:solidFill>
              </a:rPr>
              <a:t>:</a:t>
            </a:r>
            <a:br>
              <a:rPr lang="en-US" sz="15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    •   Mean  Age: 28</a:t>
            </a:r>
            <a:br>
              <a:rPr lang="en-US" sz="14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    •   Mean Annual  Income: 29k</a:t>
            </a:r>
            <a:br>
              <a:rPr lang="en-US" sz="14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    •    Mean Spending Score: 66</a:t>
            </a:r>
            <a:endParaRPr lang="el-GR" sz="1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83FBA57-E158-0642-F299-D8725FB19214}"/>
              </a:ext>
            </a:extLst>
          </p:cNvPr>
          <p:cNvSpPr txBox="1"/>
          <p:nvPr/>
        </p:nvSpPr>
        <p:spPr>
          <a:xfrm>
            <a:off x="155850" y="5716789"/>
            <a:ext cx="2491657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50000"/>
                  </a:schemeClr>
                </a:solidFill>
              </a:rPr>
              <a:t>Marketing strategy:</a:t>
            </a:r>
            <a:br>
              <a:rPr lang="en-US" sz="14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    •    Flash sales</a:t>
            </a:r>
            <a:br>
              <a:rPr lang="en-US" sz="14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    •    Social media ads</a:t>
            </a:r>
            <a:br>
              <a:rPr lang="en-US" sz="14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    •    Limited offers</a:t>
            </a:r>
            <a:br>
              <a:rPr lang="en-US" sz="14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    •    Influencer marketing</a:t>
            </a:r>
            <a:endParaRPr lang="el-GR" sz="1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3509A74-80D5-FB5B-9A36-605A8B0D253F}"/>
              </a:ext>
            </a:extLst>
          </p:cNvPr>
          <p:cNvSpPr txBox="1"/>
          <p:nvPr/>
        </p:nvSpPr>
        <p:spPr>
          <a:xfrm>
            <a:off x="4086379" y="4721122"/>
            <a:ext cx="272770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50000"/>
                  </a:schemeClr>
                </a:solidFill>
              </a:rPr>
              <a:t>Characteristics:</a:t>
            </a:r>
            <a:br>
              <a:rPr lang="en-US" sz="14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    •   Mean  Age: 39</a:t>
            </a:r>
            <a:br>
              <a:rPr lang="en-US" sz="14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    •   Mean Annual  Income: 60k</a:t>
            </a:r>
            <a:br>
              <a:rPr lang="en-US" sz="14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    •   Mean Spending Score: 42</a:t>
            </a:r>
            <a:endParaRPr lang="el-GR" sz="1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A7F1A2-E8A4-E7BC-326B-C223A687CE0D}"/>
              </a:ext>
            </a:extLst>
          </p:cNvPr>
          <p:cNvSpPr txBox="1"/>
          <p:nvPr/>
        </p:nvSpPr>
        <p:spPr>
          <a:xfrm>
            <a:off x="4153738" y="5736785"/>
            <a:ext cx="249165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50000"/>
                  </a:schemeClr>
                </a:solidFill>
              </a:rPr>
              <a:t>Marketing strategy:</a:t>
            </a:r>
            <a:br>
              <a:rPr lang="en-US" sz="14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    </a:t>
            </a:r>
            <a:r>
              <a:rPr lang="en-US" sz="1400" dirty="0"/>
              <a:t>•   </a:t>
            </a:r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 Loyalty programs</a:t>
            </a:r>
            <a:br>
              <a:rPr lang="en-US" sz="14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    •    Personalized promotions</a:t>
            </a:r>
            <a:br>
              <a:rPr lang="en-US" sz="14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    •    Seasonal offers</a:t>
            </a:r>
            <a:endParaRPr lang="el-GR" sz="1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FFB00F1-16DD-5994-B2F4-AFE3B3727C0F}"/>
              </a:ext>
            </a:extLst>
          </p:cNvPr>
          <p:cNvSpPr txBox="1"/>
          <p:nvPr/>
        </p:nvSpPr>
        <p:spPr>
          <a:xfrm>
            <a:off x="8159716" y="4713135"/>
            <a:ext cx="272770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50000"/>
                  </a:schemeClr>
                </a:solidFill>
              </a:rPr>
              <a:t>Characteristics:</a:t>
            </a:r>
            <a:br>
              <a:rPr lang="en-US" sz="14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    •   Mean  Age: 46</a:t>
            </a:r>
            <a:br>
              <a:rPr lang="en-US" sz="14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    •   Mean Annual  Income: 83k</a:t>
            </a:r>
            <a:br>
              <a:rPr lang="en-US" sz="14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    •    Mean Spending Score: 26</a:t>
            </a:r>
            <a:endParaRPr lang="el-GR" sz="1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E1CE154-B410-5C0A-06CA-1B1F68D1D9AA}"/>
              </a:ext>
            </a:extLst>
          </p:cNvPr>
          <p:cNvSpPr txBox="1"/>
          <p:nvPr/>
        </p:nvSpPr>
        <p:spPr>
          <a:xfrm>
            <a:off x="8227075" y="5728798"/>
            <a:ext cx="249165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50000"/>
                  </a:schemeClr>
                </a:solidFill>
              </a:rPr>
              <a:t>Marketing strategy:</a:t>
            </a:r>
            <a:br>
              <a:rPr lang="en-US" sz="14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   •    Premium experiences  </a:t>
            </a:r>
          </a:p>
          <a:p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   •    Exclusive offers   </a:t>
            </a:r>
          </a:p>
          <a:p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   •    Luxury branding</a:t>
            </a:r>
            <a:endParaRPr lang="el-GR" sz="140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3895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5686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33FE20-A3E0-5036-56EB-1600B5DC7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think-cell data - do not delete" hidden="1">
            <a:extLst>
              <a:ext uri="{FF2B5EF4-FFF2-40B4-BE49-F238E27FC236}">
                <a16:creationId xmlns:a16="http://schemas.microsoft.com/office/drawing/2014/main" id="{D13F7BB9-78AA-A5CD-5A97-D6604412320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5" imgH="424" progId="TCLayout.ActiveDocument.1">
                  <p:embed/>
                </p:oleObj>
              </mc:Choice>
              <mc:Fallback>
                <p:oleObj name="think-cell Slide" r:id="rId4" imgW="425" imgH="424" progId="TCLayout.ActiveDocument.1">
                  <p:embed/>
                  <p:pic>
                    <p:nvPicPr>
                      <p:cNvPr id="2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B557128-189D-7383-0934-A29961344A4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7585B9AE-8F7A-DD9D-A02C-E650F0953043}"/>
              </a:ext>
            </a:extLst>
          </p:cNvPr>
          <p:cNvSpPr/>
          <p:nvPr/>
        </p:nvSpPr>
        <p:spPr>
          <a:xfrm>
            <a:off x="0" y="1"/>
            <a:ext cx="2320413" cy="67325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8C0409-7082-BE98-3E7A-91E864397B00}"/>
              </a:ext>
            </a:extLst>
          </p:cNvPr>
          <p:cNvSpPr txBox="1"/>
          <p:nvPr/>
        </p:nvSpPr>
        <p:spPr>
          <a:xfrm>
            <a:off x="-1" y="166945"/>
            <a:ext cx="5135525" cy="361759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no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         K-Means Clustering of Customers</a:t>
            </a:r>
            <a:r>
              <a:rPr lang="en-US" sz="1500" b="1" dirty="0">
                <a:solidFill>
                  <a:schemeClr val="bg1"/>
                </a:solidFill>
              </a:rPr>
              <a:t>(2/2)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9E0D831-252C-DA84-4832-DCE12F3D80D9}"/>
              </a:ext>
            </a:extLst>
          </p:cNvPr>
          <p:cNvCxnSpPr>
            <a:cxnSpLocks/>
          </p:cNvCxnSpPr>
          <p:nvPr/>
        </p:nvCxnSpPr>
        <p:spPr>
          <a:xfrm>
            <a:off x="157316" y="0"/>
            <a:ext cx="0" cy="11208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C0B07FE-98DA-3430-7637-E7AF445B7C59}"/>
              </a:ext>
            </a:extLst>
          </p:cNvPr>
          <p:cNvCxnSpPr>
            <a:cxnSpLocks/>
          </p:cNvCxnSpPr>
          <p:nvPr/>
        </p:nvCxnSpPr>
        <p:spPr>
          <a:xfrm>
            <a:off x="11970772" y="361760"/>
            <a:ext cx="0" cy="613244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B4D8627-E2E1-473C-883E-25EA47CECEE4}"/>
              </a:ext>
            </a:extLst>
          </p:cNvPr>
          <p:cNvCxnSpPr>
            <a:cxnSpLocks/>
          </p:cNvCxnSpPr>
          <p:nvPr/>
        </p:nvCxnSpPr>
        <p:spPr>
          <a:xfrm>
            <a:off x="12103508" y="361759"/>
            <a:ext cx="0" cy="613244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D581676-4E0D-32E7-EE0D-8AF0E2ED956C}"/>
              </a:ext>
            </a:extLst>
          </p:cNvPr>
          <p:cNvCxnSpPr>
            <a:cxnSpLocks/>
          </p:cNvCxnSpPr>
          <p:nvPr/>
        </p:nvCxnSpPr>
        <p:spPr>
          <a:xfrm>
            <a:off x="290051" y="0"/>
            <a:ext cx="0" cy="11208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02610C6-606B-C794-D8AF-AAEF2374F95E}"/>
              </a:ext>
            </a:extLst>
          </p:cNvPr>
          <p:cNvCxnSpPr>
            <a:cxnSpLocks/>
          </p:cNvCxnSpPr>
          <p:nvPr/>
        </p:nvCxnSpPr>
        <p:spPr>
          <a:xfrm>
            <a:off x="417873" y="0"/>
            <a:ext cx="0" cy="11208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61339EC-C65E-133C-62C5-7E146F4BE093}"/>
              </a:ext>
            </a:extLst>
          </p:cNvPr>
          <p:cNvSpPr txBox="1"/>
          <p:nvPr/>
        </p:nvSpPr>
        <p:spPr>
          <a:xfrm>
            <a:off x="2300076" y="791188"/>
            <a:ext cx="3554697" cy="36175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anchor="ctr" anchorCtr="0">
            <a:noAutofit/>
          </a:bodyPr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Young active shoppers</a:t>
            </a:r>
            <a:endParaRPr lang="el-GR" sz="1500" b="1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10421A-1710-A6DE-0A98-7FA236F2E52A}"/>
              </a:ext>
            </a:extLst>
          </p:cNvPr>
          <p:cNvSpPr/>
          <p:nvPr/>
        </p:nvSpPr>
        <p:spPr>
          <a:xfrm>
            <a:off x="2300076" y="791188"/>
            <a:ext cx="3554697" cy="3572367"/>
          </a:xfrm>
          <a:prstGeom prst="rect">
            <a:avLst/>
          </a:prstGeom>
          <a:noFill/>
          <a:ln w="63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F4887D4-CA91-8CD0-6649-B6EB7B4DF765}"/>
              </a:ext>
            </a:extLst>
          </p:cNvPr>
          <p:cNvSpPr txBox="1"/>
          <p:nvPr/>
        </p:nvSpPr>
        <p:spPr>
          <a:xfrm>
            <a:off x="6297964" y="784609"/>
            <a:ext cx="3739190" cy="36175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anchor="ctr" anchorCtr="0">
            <a:noAutofit/>
          </a:bodyPr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Very Wealthy but inactive customers</a:t>
            </a:r>
            <a:endParaRPr lang="el-GR" sz="1500" b="1" dirty="0">
              <a:solidFill>
                <a:schemeClr val="bg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5047D0D-2834-3789-BBBD-E696E5242314}"/>
              </a:ext>
            </a:extLst>
          </p:cNvPr>
          <p:cNvSpPr/>
          <p:nvPr/>
        </p:nvSpPr>
        <p:spPr>
          <a:xfrm>
            <a:off x="6297964" y="791188"/>
            <a:ext cx="3739190" cy="3572367"/>
          </a:xfrm>
          <a:prstGeom prst="rect">
            <a:avLst/>
          </a:prstGeom>
          <a:noFill/>
          <a:ln w="63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8F59DA-9B35-7EF8-0728-5801B43B3D6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63" b="3449"/>
          <a:stretch>
            <a:fillRect/>
          </a:stretch>
        </p:blipFill>
        <p:spPr>
          <a:xfrm>
            <a:off x="2368900" y="1212691"/>
            <a:ext cx="3446651" cy="310815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A30EAE3-2487-2191-B7A1-F52324C6182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15"/>
          <a:stretch>
            <a:fillRect/>
          </a:stretch>
        </p:blipFill>
        <p:spPr>
          <a:xfrm>
            <a:off x="6366786" y="1169095"/>
            <a:ext cx="3633190" cy="3151753"/>
          </a:xfrm>
          <a:prstGeom prst="rect">
            <a:avLst/>
          </a:prstGeom>
        </p:spPr>
      </p:pic>
      <p:pic>
        <p:nvPicPr>
          <p:cNvPr id="20" name="Graphic 19" descr="Lightbulb and gear outline">
            <a:extLst>
              <a:ext uri="{FF2B5EF4-FFF2-40B4-BE49-F238E27FC236}">
                <a16:creationId xmlns:a16="http://schemas.microsoft.com/office/drawing/2014/main" id="{598B005A-271F-0051-8AF0-E08709EB253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21227" y="4351486"/>
            <a:ext cx="368941" cy="36894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2E154BD5-75D5-D591-B94F-1BBC74F760ED}"/>
              </a:ext>
            </a:extLst>
          </p:cNvPr>
          <p:cNvSpPr txBox="1"/>
          <p:nvPr/>
        </p:nvSpPr>
        <p:spPr>
          <a:xfrm>
            <a:off x="231110" y="4253619"/>
            <a:ext cx="1855790" cy="564674"/>
          </a:xfrm>
          <a:prstGeom prst="rect">
            <a:avLst/>
          </a:prstGeom>
          <a:noFill/>
          <a:ln>
            <a:noFill/>
          </a:ln>
        </p:spPr>
        <p:txBody>
          <a:bodyPr vert="horz" wrap="square" anchor="ctr" anchorCtr="0">
            <a:noAutofit/>
          </a:bodyPr>
          <a:lstStyle/>
          <a:p>
            <a:pPr algn="ctr"/>
            <a:r>
              <a:rPr lang="en-US" sz="2000" b="1" dirty="0">
                <a:solidFill>
                  <a:schemeClr val="accent1">
                    <a:lumMod val="75000"/>
                  </a:schemeClr>
                </a:solidFill>
              </a:rPr>
              <a:t>Insights</a:t>
            </a:r>
            <a:endParaRPr lang="el-GR" sz="2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C27E04D-FC75-7FF4-4B4C-B9626F2D6F45}"/>
              </a:ext>
            </a:extLst>
          </p:cNvPr>
          <p:cNvCxnSpPr/>
          <p:nvPr/>
        </p:nvCxnSpPr>
        <p:spPr>
          <a:xfrm>
            <a:off x="88492" y="4752497"/>
            <a:ext cx="12103508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1BA1F47-1AF3-8E39-AE77-2AB2A90258E8}"/>
              </a:ext>
            </a:extLst>
          </p:cNvPr>
          <p:cNvSpPr txBox="1"/>
          <p:nvPr/>
        </p:nvSpPr>
        <p:spPr>
          <a:xfrm>
            <a:off x="2129951" y="4701126"/>
            <a:ext cx="2727709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50000"/>
                  </a:schemeClr>
                </a:solidFill>
              </a:rPr>
              <a:t>Characteristics</a:t>
            </a:r>
            <a:r>
              <a:rPr lang="en-US" sz="1500" b="1" dirty="0">
                <a:solidFill>
                  <a:schemeClr val="accent1">
                    <a:lumMod val="50000"/>
                  </a:schemeClr>
                </a:solidFill>
              </a:rPr>
              <a:t>:</a:t>
            </a:r>
            <a:br>
              <a:rPr lang="en-US" sz="15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    •   Mean  Age: 32</a:t>
            </a:r>
            <a:br>
              <a:rPr lang="en-US" sz="14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    •   Mean Annual  Income: 39k</a:t>
            </a:r>
            <a:br>
              <a:rPr lang="en-US" sz="14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    •   Mean Spending Score: 52</a:t>
            </a:r>
            <a:endParaRPr lang="el-GR" sz="1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9192454-7E48-B594-7034-04BEDBF2A0B5}"/>
              </a:ext>
            </a:extLst>
          </p:cNvPr>
          <p:cNvSpPr txBox="1"/>
          <p:nvPr/>
        </p:nvSpPr>
        <p:spPr>
          <a:xfrm>
            <a:off x="2197310" y="5716789"/>
            <a:ext cx="249165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50000"/>
                  </a:schemeClr>
                </a:solidFill>
              </a:rPr>
              <a:t>Marketing strategy:</a:t>
            </a:r>
            <a:br>
              <a:rPr lang="en-US" sz="14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 •    Membership programs  </a:t>
            </a:r>
          </a:p>
          <a:p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 •    Bundles  </a:t>
            </a:r>
          </a:p>
          <a:p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 •    Frequent buyer rewards</a:t>
            </a:r>
            <a:endParaRPr lang="el-GR" sz="1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6E3AFDE-96B2-C2B2-387F-B095198E9EEE}"/>
              </a:ext>
            </a:extLst>
          </p:cNvPr>
          <p:cNvSpPr txBox="1"/>
          <p:nvPr/>
        </p:nvSpPr>
        <p:spPr>
          <a:xfrm>
            <a:off x="6255427" y="4721122"/>
            <a:ext cx="272770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50000"/>
                  </a:schemeClr>
                </a:solidFill>
              </a:rPr>
              <a:t>Characteristics:</a:t>
            </a:r>
            <a:br>
              <a:rPr lang="en-US" sz="14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    •   Mean  Age:67</a:t>
            </a:r>
            <a:br>
              <a:rPr lang="en-US" sz="14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    •   Mean Annual  Income: 106k</a:t>
            </a:r>
            <a:br>
              <a:rPr lang="en-US" sz="14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    •   Mean Spending Score: 1</a:t>
            </a:r>
            <a:endParaRPr lang="el-GR" sz="1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97D22B9-DFCA-F4EF-7D12-CA2D4A65C0D9}"/>
              </a:ext>
            </a:extLst>
          </p:cNvPr>
          <p:cNvSpPr txBox="1"/>
          <p:nvPr/>
        </p:nvSpPr>
        <p:spPr>
          <a:xfrm>
            <a:off x="6322786" y="5736785"/>
            <a:ext cx="284247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50000"/>
                  </a:schemeClr>
                </a:solidFill>
              </a:rPr>
              <a:t>Marketing strategy:</a:t>
            </a:r>
            <a:br>
              <a:rPr lang="en-US" sz="14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fr-FR" sz="1400" dirty="0">
                <a:solidFill>
                  <a:schemeClr val="accent1">
                    <a:lumMod val="50000"/>
                  </a:schemeClr>
                </a:solidFill>
              </a:rPr>
              <a:t> •    </a:t>
            </a:r>
            <a:r>
              <a:rPr lang="fr-FR" sz="1400" dirty="0" err="1">
                <a:solidFill>
                  <a:schemeClr val="accent1">
                    <a:lumMod val="50000"/>
                  </a:schemeClr>
                </a:solidFill>
              </a:rPr>
              <a:t>Luxury</a:t>
            </a:r>
            <a:r>
              <a:rPr lang="fr-FR" sz="1400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fr-FR" sz="1400" dirty="0" err="1">
                <a:solidFill>
                  <a:schemeClr val="accent1">
                    <a:lumMod val="50000"/>
                  </a:schemeClr>
                </a:solidFill>
              </a:rPr>
              <a:t>experiences</a:t>
            </a:r>
            <a:r>
              <a:rPr lang="fr-FR" sz="1400" dirty="0">
                <a:solidFill>
                  <a:schemeClr val="accent1">
                    <a:lumMod val="50000"/>
                  </a:schemeClr>
                </a:solidFill>
              </a:rPr>
              <a:t> </a:t>
            </a:r>
          </a:p>
          <a:p>
            <a:r>
              <a:rPr lang="fr-FR" sz="1400" dirty="0">
                <a:solidFill>
                  <a:schemeClr val="accent1">
                    <a:lumMod val="50000"/>
                  </a:schemeClr>
                </a:solidFill>
              </a:rPr>
              <a:t> •    </a:t>
            </a:r>
            <a:r>
              <a:rPr lang="fr-FR" sz="1400" dirty="0" err="1">
                <a:solidFill>
                  <a:schemeClr val="accent1">
                    <a:lumMod val="50000"/>
                  </a:schemeClr>
                </a:solidFill>
              </a:rPr>
              <a:t>Personalized</a:t>
            </a:r>
            <a:r>
              <a:rPr lang="fr-FR" sz="1400" dirty="0">
                <a:solidFill>
                  <a:schemeClr val="accent1">
                    <a:lumMod val="50000"/>
                  </a:schemeClr>
                </a:solidFill>
              </a:rPr>
              <a:t> premium services   </a:t>
            </a:r>
          </a:p>
          <a:p>
            <a:r>
              <a:rPr lang="fr-FR" sz="1400" dirty="0">
                <a:solidFill>
                  <a:schemeClr val="accent1">
                    <a:lumMod val="50000"/>
                  </a:schemeClr>
                </a:solidFill>
              </a:rPr>
              <a:t> •    Exclusive VIP </a:t>
            </a:r>
            <a:r>
              <a:rPr lang="fr-FR" sz="1400" dirty="0" err="1">
                <a:solidFill>
                  <a:schemeClr val="accent1">
                    <a:lumMod val="50000"/>
                  </a:schemeClr>
                </a:solidFill>
              </a:rPr>
              <a:t>events</a:t>
            </a:r>
            <a:endParaRPr lang="el-GR" sz="140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66727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194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26DB6F-5A78-4D04-B0C2-B17A7A562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think-cell data - do not delete" hidden="1">
            <a:extLst>
              <a:ext uri="{FF2B5EF4-FFF2-40B4-BE49-F238E27FC236}">
                <a16:creationId xmlns:a16="http://schemas.microsoft.com/office/drawing/2014/main" id="{392A4AAB-3EB8-8E67-0CAB-DDF55373874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5" imgH="424" progId="TCLayout.ActiveDocument.1">
                  <p:embed/>
                </p:oleObj>
              </mc:Choice>
              <mc:Fallback>
                <p:oleObj name="think-cell Slide" r:id="rId4" imgW="425" imgH="424" progId="TCLayout.ActiveDocument.1">
                  <p:embed/>
                  <p:pic>
                    <p:nvPicPr>
                      <p:cNvPr id="2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41DE297-BEA3-C5D0-CF5D-5D4FEA0AFE3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8B2AC973-7905-0D95-A59B-23BF29B05146}"/>
              </a:ext>
            </a:extLst>
          </p:cNvPr>
          <p:cNvSpPr/>
          <p:nvPr/>
        </p:nvSpPr>
        <p:spPr>
          <a:xfrm>
            <a:off x="5841053" y="6494205"/>
            <a:ext cx="3450105" cy="361759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l-G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4032F94-7DF1-B7FB-377A-1B662223EEB1}"/>
              </a:ext>
            </a:extLst>
          </p:cNvPr>
          <p:cNvSpPr/>
          <p:nvPr/>
        </p:nvSpPr>
        <p:spPr>
          <a:xfrm>
            <a:off x="9291158" y="6504036"/>
            <a:ext cx="2900842" cy="36175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l-G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DB9ABE9-D02B-6C22-4966-8BF721202E31}"/>
              </a:ext>
            </a:extLst>
          </p:cNvPr>
          <p:cNvSpPr txBox="1"/>
          <p:nvPr/>
        </p:nvSpPr>
        <p:spPr>
          <a:xfrm>
            <a:off x="2028649" y="2844956"/>
            <a:ext cx="59386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Thank You!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E2841">
                  <a:lumMod val="50000"/>
                  <a:lumOff val="5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0D1AF9C-FB80-18C3-1CC3-CAF09CBB63B7}"/>
              </a:ext>
            </a:extLst>
          </p:cNvPr>
          <p:cNvCxnSpPr>
            <a:cxnSpLocks/>
          </p:cNvCxnSpPr>
          <p:nvPr/>
        </p:nvCxnSpPr>
        <p:spPr>
          <a:xfrm>
            <a:off x="717755" y="0"/>
            <a:ext cx="0" cy="11208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A8D79A6-BBE0-C6A3-B51E-0EE44B388FA2}"/>
              </a:ext>
            </a:extLst>
          </p:cNvPr>
          <p:cNvCxnSpPr>
            <a:cxnSpLocks/>
          </p:cNvCxnSpPr>
          <p:nvPr/>
        </p:nvCxnSpPr>
        <p:spPr>
          <a:xfrm>
            <a:off x="850491" y="-1"/>
            <a:ext cx="0" cy="11208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F6ADCA6-3104-489A-AC0D-727CD46C86F7}"/>
              </a:ext>
            </a:extLst>
          </p:cNvPr>
          <p:cNvCxnSpPr>
            <a:cxnSpLocks/>
          </p:cNvCxnSpPr>
          <p:nvPr/>
        </p:nvCxnSpPr>
        <p:spPr>
          <a:xfrm>
            <a:off x="997974" y="-2"/>
            <a:ext cx="0" cy="112087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5C5A79F6-56CC-CAEB-7B4A-7DB7140BD05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59" t="267" r="11037" b="566"/>
          <a:stretch>
            <a:fillRect/>
          </a:stretch>
        </p:blipFill>
        <p:spPr>
          <a:xfrm>
            <a:off x="5842395" y="1435508"/>
            <a:ext cx="5920697" cy="334211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9907496-B67A-4124-6D26-8CFE91518548}"/>
              </a:ext>
            </a:extLst>
          </p:cNvPr>
          <p:cNvSpPr/>
          <p:nvPr/>
        </p:nvSpPr>
        <p:spPr>
          <a:xfrm>
            <a:off x="5813923" y="0"/>
            <a:ext cx="3450105" cy="361759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l-G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9F5D5F-1643-C871-841C-EEF19446F780}"/>
              </a:ext>
            </a:extLst>
          </p:cNvPr>
          <p:cNvSpPr/>
          <p:nvPr/>
        </p:nvSpPr>
        <p:spPr>
          <a:xfrm>
            <a:off x="9264028" y="0"/>
            <a:ext cx="2927972" cy="36175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l-G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0CA2856-B3E1-1754-82FB-557E008F5B68}"/>
              </a:ext>
            </a:extLst>
          </p:cNvPr>
          <p:cNvCxnSpPr>
            <a:cxnSpLocks/>
          </p:cNvCxnSpPr>
          <p:nvPr/>
        </p:nvCxnSpPr>
        <p:spPr>
          <a:xfrm>
            <a:off x="11970772" y="361760"/>
            <a:ext cx="0" cy="613244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CB1F79B-7110-5526-8D9B-B7EE8E7B946A}"/>
              </a:ext>
            </a:extLst>
          </p:cNvPr>
          <p:cNvCxnSpPr>
            <a:cxnSpLocks/>
          </p:cNvCxnSpPr>
          <p:nvPr/>
        </p:nvCxnSpPr>
        <p:spPr>
          <a:xfrm>
            <a:off x="12103508" y="361759"/>
            <a:ext cx="0" cy="613244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548565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407</Words>
  <Application>Microsoft Macintosh PowerPoint</Application>
  <PresentationFormat>Widescreen</PresentationFormat>
  <Paragraphs>85</Paragraphs>
  <Slides>9</Slides>
  <Notes>9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Aggeliki Triantafyllou</dc:creator>
  <cp:lastModifiedBy>Microsoft Office User</cp:lastModifiedBy>
  <cp:revision>16</cp:revision>
  <dcterms:created xsi:type="dcterms:W3CDTF">2026-03-07T10:07:33Z</dcterms:created>
  <dcterms:modified xsi:type="dcterms:W3CDTF">2026-03-07T13:36:26Z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8cc3e47-7f2f-42e0-be7c-4ac16c3a9085_Enabled">
    <vt:lpwstr>true</vt:lpwstr>
  </property>
  <property fmtid="{D5CDD505-2E9C-101B-9397-08002B2CF9AE}" pid="3" name="MSIP_Label_68cc3e47-7f2f-42e0-be7c-4ac16c3a9085_SetDate">
    <vt:lpwstr>2026-03-07T10:30:33Z</vt:lpwstr>
  </property>
  <property fmtid="{D5CDD505-2E9C-101B-9397-08002B2CF9AE}" pid="4" name="MSIP_Label_68cc3e47-7f2f-42e0-be7c-4ac16c3a9085_Method">
    <vt:lpwstr>Standard</vt:lpwstr>
  </property>
  <property fmtid="{D5CDD505-2E9C-101B-9397-08002B2CF9AE}" pid="5" name="MSIP_Label_68cc3e47-7f2f-42e0-be7c-4ac16c3a9085_Name">
    <vt:lpwstr>Internal</vt:lpwstr>
  </property>
  <property fmtid="{D5CDD505-2E9C-101B-9397-08002B2CF9AE}" pid="6" name="MSIP_Label_68cc3e47-7f2f-42e0-be7c-4ac16c3a9085_SiteId">
    <vt:lpwstr>c99a6eaf-0642-4203-bbc7-4e7ff2354318</vt:lpwstr>
  </property>
  <property fmtid="{D5CDD505-2E9C-101B-9397-08002B2CF9AE}" pid="7" name="MSIP_Label_68cc3e47-7f2f-42e0-be7c-4ac16c3a9085_ActionId">
    <vt:lpwstr>baa51328-615f-438f-8bfd-a970652c2cea</vt:lpwstr>
  </property>
  <property fmtid="{D5CDD505-2E9C-101B-9397-08002B2CF9AE}" pid="8" name="MSIP_Label_68cc3e47-7f2f-42e0-be7c-4ac16c3a9085_ContentBits">
    <vt:lpwstr>0</vt:lpwstr>
  </property>
  <property fmtid="{D5CDD505-2E9C-101B-9397-08002B2CF9AE}" pid="9" name="MSIP_Label_68cc3e47-7f2f-42e0-be7c-4ac16c3a9085_Tag">
    <vt:lpwstr>10, 3, 0, 1</vt:lpwstr>
  </property>
</Properties>
</file>